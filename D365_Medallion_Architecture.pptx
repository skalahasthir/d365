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The deck argues two things: (1) build silver on raw physical tables, not D365 data entities; (2) grain must be deliberately designed at every layer — silver stays source-grained, gold sets fact/dim grain.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four layers. Emphasize: each layer has ONE job. Trouble comes from doing gold's job (denormalization) up in silver, or skipping silver's cleansing.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crux. Entities are an ERP integration convenience; tables are the source of truth. FastTrack recommends exporting tables and reconstructing entity shapes downstream (EntityUtil). Silver builds on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reasons. The through-line: don't depend on entities upstream; reconstruct their shapes downstream only where a report needs it. Denormalization is a gold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Silver's real job: this cleansing. This is why it can't be skipped and why it stays source-grained — one silver table per source table so every downstream model reuses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Grain spotlight. Silver keeps source grain. Gold sets two new grains deliberately: dim = one per entity, fact = one per event. If these aren't respected, joins fan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grain bug. This is why grain must be designed, not assumed. The same class of error hides in header-to-line joins and Type 2 dims that collide on a non-versioned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 is where denormalization is YOUR decision. dim_customer is built once and shared by every fact — impossible inside a single entity. The OBT re-creates the wide entity shape, but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principles. These five are the transferable lessons — they apply to any ERP source, not just D365.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417320"/>
            <a:ext cx="3566160" cy="685800"/>
          </a:xfrm>
          <a:prstGeom prst="roundRect">
            <a:avLst>
              <a:gd name="adj" fmla="val 8000"/>
            </a:avLst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0" y="1417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/ BRONZE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55280" y="2286000"/>
            <a:ext cx="3566160" cy="685800"/>
          </a:xfrm>
          <a:prstGeom prst="roundRect">
            <a:avLst>
              <a:gd name="adj" fmla="val 8000"/>
            </a:avLst>
          </a:prstGeom>
          <a:solidFill>
            <a:srgbClr val="9AA7B4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22860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955280" y="3154680"/>
            <a:ext cx="3566160" cy="685800"/>
          </a:xfrm>
          <a:prstGeom prst="roundRect">
            <a:avLst>
              <a:gd name="adj" fmla="val 8000"/>
            </a:avLst>
          </a:prstGeom>
          <a:solidFill>
            <a:srgbClr val="E0A83A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0" y="31546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 →  OBT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D365 Finance &amp; Operations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" y="187452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Medallion Architecture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40080" y="379476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silver is built on RAW TABLES — not entities — and why grain must be designed with care from silver through facts &amp; dims in gold.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AX2012  →  D365  •  Synapse Link  •  Databricks  •  Delta Lake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pipeline at a glance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layers, each with one job. The discipline is keeping those jobs separate.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33832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AAB4B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2240280" cy="548640"/>
          </a:xfrm>
          <a:prstGeom prst="roundRect">
            <a:avLst>
              <a:gd name="adj" fmla="val 8333"/>
            </a:avLst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/ BRONZE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606040"/>
            <a:ext cx="2185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copy of D365 physical tables from Synapse Link. No transforms.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425196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SalesTable, SalesLine, CustTable…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27832" y="30632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7333"/>
                </a:solidFill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10712" y="1600200"/>
            <a:ext cx="2697480" cy="33832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AAB4BE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9312" y="1874520"/>
            <a:ext cx="2240280" cy="548640"/>
          </a:xfrm>
          <a:prstGeom prst="roundRect">
            <a:avLst>
              <a:gd name="adj" fmla="val 8333"/>
            </a:avLst>
          </a:prstGeom>
          <a:solidFill>
            <a:srgbClr val="9AA7B4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66744" y="2606040"/>
            <a:ext cx="2185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tables, made trustworthy. Deletes applied, deduped, typed. Source grain kept.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66744" y="425196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silver.sales_line (1 row / line)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89904" y="30632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7B4"/>
                </a:solidFill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72784" y="1600200"/>
            <a:ext cx="2697480" cy="33832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AAB4BE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01384" y="1874520"/>
            <a:ext cx="2240280" cy="548640"/>
          </a:xfrm>
          <a:prstGeom prst="roundRect">
            <a:avLst>
              <a:gd name="adj" fmla="val 8333"/>
            </a:avLst>
          </a:prstGeom>
          <a:solidFill>
            <a:srgbClr val="E0A83A"/>
          </a:solidFill>
          <a:ln/>
        </p:spPr>
      </p:sp>
      <p:sp>
        <p:nvSpPr>
          <p:cNvPr id="18" name="Text 16"/>
          <p:cNvSpPr/>
          <p:nvPr/>
        </p:nvSpPr>
        <p:spPr>
          <a:xfrm>
            <a:off x="6501384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28816" y="2606040"/>
            <a:ext cx="2185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model. Conformed dims + facts. Grain is a deliberate design choice.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28816" y="425196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dim_customer, fact_sales_invoice_line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951976" y="30632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83A"/>
                </a:solidFill>
              </a:rPr>
              <a:t>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34856" y="1600200"/>
            <a:ext cx="2697480" cy="33832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AAB4BE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63456" y="1874520"/>
            <a:ext cx="2240280" cy="548640"/>
          </a:xfrm>
          <a:prstGeom prst="roundRect">
            <a:avLst>
              <a:gd name="adj" fmla="val 8333"/>
            </a:avLst>
          </a:prstGeom>
          <a:solidFill>
            <a:srgbClr val="2E5E82"/>
          </a:solidFill>
          <a:ln/>
        </p:spPr>
      </p:sp>
      <p:sp>
        <p:nvSpPr>
          <p:cNvPr id="24" name="Text 22"/>
          <p:cNvSpPr/>
          <p:nvPr/>
        </p:nvSpPr>
        <p:spPr>
          <a:xfrm>
            <a:off x="9363456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90888" y="2606040"/>
            <a:ext cx="2185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Big Table. Flattened dims + facts for a specific insight area.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390888" y="425196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obt_revenue → Power BI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E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are built on the OBT — which is only as trustworthy as the silver beneath it.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Entities vs. tables: the decision that shapes everything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D365 F&amp;O these are NOT the same thing — and silver should be built on the second 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020"/>
            </a:avLst>
          </a:prstGeom>
          <a:solidFill>
            <a:srgbClr val="1B3A5B"/>
          </a:solidFill>
          <a:ln w="12700">
            <a:solidFill>
              <a:srgbClr val="2E5E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3640" y="1600200"/>
            <a:ext cx="5394960" cy="4480560"/>
          </a:xfrm>
          <a:prstGeom prst="roundRect">
            <a:avLst>
              <a:gd name="adj" fmla="val 1020"/>
            </a:avLst>
          </a:prstGeom>
          <a:solidFill>
            <a:srgbClr val="1B3A5B"/>
          </a:solidFill>
          <a:ln w="19050">
            <a:solidFill>
              <a:srgbClr val="E0A8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7452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2E5E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ENTITIES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Denormalized views the ERP layer builds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285292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data migration, OData &amp; BYOD — not analytics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48386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345643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tracking can't be enabled on all entities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0873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405993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on database restore in Synapse Link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469087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70432" y="466344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logic you can't control; drift across releases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529437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5266944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is whatever the ERP found convenient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37960" y="187452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E0A83A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TABLES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2377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normalized source of truth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2880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85432" y="285292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Stable: exported reliably &amp; incrementally via Synapse Link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37960" y="348386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85432" y="345643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restores; the FastTrack-recommended source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37960" y="40873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85432" y="405993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rebuild entity shapes downstream when needed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37960" y="469087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85432" y="466344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grain per table (SalesId, SalesId+LineNum…)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37960" y="529437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85432" y="5266944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every transformation — no hidden ERP logic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silver is built on raw tables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reasons the medallion base must be physical tables — reconstructing entities downstream, not depending on them upstream.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63500" dist="25400" dir="5400000">
              <a:srgbClr val="AAB4BE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603504" cy="603504"/>
          </a:xfrm>
          <a:prstGeom prst="ellipse">
            <a:avLst/>
          </a:prstGeom>
          <a:solidFill>
            <a:srgbClr val="E0A83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36192" y="1965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exports survive DB restores and support change tracking; entity exports don't.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63500" dist="25400" dir="5400000">
              <a:srgbClr val="AAB4BE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1947672"/>
            <a:ext cx="603504" cy="603504"/>
          </a:xfrm>
          <a:prstGeom prst="ellipse">
            <a:avLst/>
          </a:prstGeom>
          <a:solidFill>
            <a:srgbClr val="E0A83A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9476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85232" y="1965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651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every transform. Entity logic is opaque and shifts across D365 releases.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63500" dist="25400" dir="5400000">
              <a:srgbClr val="AAB4BE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1947672"/>
            <a:ext cx="603504" cy="603504"/>
          </a:xfrm>
          <a:prstGeom prst="ellipse">
            <a:avLst/>
          </a:prstGeom>
          <a:solidFill>
            <a:srgbClr val="E0A83A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9476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034272" y="1965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2651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Denormalization is gold's job. Carrying ERP entities too means two sources of truth that drift.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63500" dist="25400" dir="5400000">
              <a:srgbClr val="AAB4BE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050792"/>
            <a:ext cx="603504" cy="603504"/>
          </a:xfrm>
          <a:prstGeom prst="ellipse">
            <a:avLst/>
          </a:prstGeom>
          <a:solidFill>
            <a:srgbClr val="E0A83A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050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♺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36192" y="40690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754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clean silver.customer feeds sales, purchasing, AR — an entity locks fields into one silo.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97680" y="379476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63500" dist="25400" dir="5400000">
              <a:srgbClr val="AAB4BE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4050792"/>
            <a:ext cx="603504" cy="603504"/>
          </a:xfrm>
          <a:prstGeom prst="ellipse">
            <a:avLst/>
          </a:prstGeom>
          <a:solidFill>
            <a:srgbClr val="E0A83A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4050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285232" y="40690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grain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0" y="4754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have one clear grain. Entities mix header + line data, inviting fan-out &amp; double counts.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46720" y="379476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63500" dist="25400" dir="5400000">
              <a:srgbClr val="AAB4BE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02752" y="4050792"/>
            <a:ext cx="603504" cy="603504"/>
          </a:xfrm>
          <a:prstGeom prst="ellipse">
            <a:avLst/>
          </a:prstGeom>
          <a:solidFill>
            <a:srgbClr val="E0A83A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4050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034272" y="40690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path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21040" y="4754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FastTrack EntityUtil rebuilds any entity shape from tables when a report truly needs it.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Silver earns its place: it makes raw trustworthy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grain as source — but every Synapse Link quirk handled before gold ever sees the data.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051560"/>
          </a:xfrm>
          <a:prstGeom prst="roundRect">
            <a:avLst>
              <a:gd name="adj" fmla="val 4348"/>
            </a:avLst>
          </a:prstGeom>
          <a:solidFill>
            <a:srgbClr val="1B3A5B"/>
          </a:solidFill>
          <a:ln w="12700">
            <a:solidFill>
              <a:srgbClr val="2E5E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65376"/>
            <a:ext cx="109728" cy="612648"/>
          </a:xfrm>
          <a:prstGeom prst="roundRect">
            <a:avLst>
              <a:gd name="adj" fmla="val 16667"/>
            </a:avLst>
          </a:prstGeom>
          <a:solidFill>
            <a:srgbClr val="E0A83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7393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21214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Link flags deletes with isDelete — silver filters them out (WHERE IsDelete = 0).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645920"/>
            <a:ext cx="5440680" cy="1051560"/>
          </a:xfrm>
          <a:prstGeom prst="roundRect">
            <a:avLst>
              <a:gd name="adj" fmla="val 4348"/>
            </a:avLst>
          </a:prstGeom>
          <a:solidFill>
            <a:srgbClr val="1B3A5B"/>
          </a:solidFill>
          <a:ln w="12700">
            <a:solidFill>
              <a:srgbClr val="2E5E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91072" y="1865376"/>
            <a:ext cx="109728" cy="612648"/>
          </a:xfrm>
          <a:prstGeom prst="roundRect">
            <a:avLst>
              <a:gd name="adj" fmla="val 16667"/>
            </a:avLst>
          </a:prstGeom>
          <a:solidFill>
            <a:srgbClr val="E0A83A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77393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37960" y="21214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latest versionnumber per business key from the change feed.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807208"/>
            <a:ext cx="5440680" cy="1051560"/>
          </a:xfrm>
          <a:prstGeom prst="roundRect">
            <a:avLst>
              <a:gd name="adj" fmla="val 4348"/>
            </a:avLst>
          </a:prstGeom>
          <a:solidFill>
            <a:srgbClr val="1B3A5B"/>
          </a:solidFill>
          <a:ln w="12700">
            <a:solidFill>
              <a:srgbClr val="2E5E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3026664"/>
            <a:ext cx="109728" cy="612648"/>
          </a:xfrm>
          <a:prstGeom prst="roundRect">
            <a:avLst>
              <a:gd name="adj" fmla="val 16667"/>
            </a:avLst>
          </a:prstGeom>
          <a:solidFill>
            <a:srgbClr val="E0A83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93522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inheritance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0120" y="328269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Rejoin DirPerson / DirOrganizationBase to base DirPartyTable on RecId.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2807208"/>
            <a:ext cx="5440680" cy="1051560"/>
          </a:xfrm>
          <a:prstGeom prst="roundRect">
            <a:avLst>
              <a:gd name="adj" fmla="val 4348"/>
            </a:avLst>
          </a:prstGeom>
          <a:solidFill>
            <a:srgbClr val="1B3A5B"/>
          </a:solidFill>
          <a:ln w="12700">
            <a:solidFill>
              <a:srgbClr val="2E5E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1072" y="3026664"/>
            <a:ext cx="109728" cy="612648"/>
          </a:xfrm>
          <a:prstGeom prst="roundRect">
            <a:avLst>
              <a:gd name="adj" fmla="val 16667"/>
            </a:avLst>
          </a:prstGeom>
          <a:solidFill>
            <a:srgbClr val="E0A83A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93522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RecId lookups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37960" y="328269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FK pointers — e.g. contact RecId → LogisticsElectronicAddress.Locator.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68496"/>
            <a:ext cx="5440680" cy="1051560"/>
          </a:xfrm>
          <a:prstGeom prst="roundRect">
            <a:avLst>
              <a:gd name="adj" fmla="val 4348"/>
            </a:avLst>
          </a:prstGeom>
          <a:solidFill>
            <a:srgbClr val="1B3A5B"/>
          </a:solidFill>
          <a:ln w="12700">
            <a:solidFill>
              <a:srgbClr val="2E5E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187952"/>
            <a:ext cx="109728" cy="612648"/>
          </a:xfrm>
          <a:prstGeom prst="roundRect">
            <a:avLst>
              <a:gd name="adj" fmla="val 16667"/>
            </a:avLst>
          </a:prstGeom>
          <a:solidFill>
            <a:srgbClr val="E0A83A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0965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context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60120" y="444398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DataAreaId for master-company-shared tables.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3968496"/>
            <a:ext cx="5440680" cy="1051560"/>
          </a:xfrm>
          <a:prstGeom prst="roundRect">
            <a:avLst>
              <a:gd name="adj" fmla="val 4348"/>
            </a:avLst>
          </a:prstGeom>
          <a:solidFill>
            <a:srgbClr val="1B3A5B"/>
          </a:solidFill>
          <a:ln w="12700">
            <a:solidFill>
              <a:srgbClr val="2E5E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91072" y="4187952"/>
            <a:ext cx="109728" cy="612648"/>
          </a:xfrm>
          <a:prstGeom prst="roundRect">
            <a:avLst>
              <a:gd name="adj" fmla="val 16667"/>
            </a:avLst>
          </a:prstGeom>
          <a:solidFill>
            <a:srgbClr val="E0A83A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40965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artifacts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37960" y="444398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FnO_Id; handle 2,000-char truncation of memo fields; cast types.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129784"/>
            <a:ext cx="5440680" cy="1051560"/>
          </a:xfrm>
          <a:prstGeom prst="roundRect">
            <a:avLst>
              <a:gd name="adj" fmla="val 4348"/>
            </a:avLst>
          </a:prstGeom>
          <a:solidFill>
            <a:srgbClr val="1B3A5B"/>
          </a:solidFill>
          <a:ln w="12700">
            <a:solidFill>
              <a:srgbClr val="2E5E8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5349240"/>
            <a:ext cx="109728" cy="612648"/>
          </a:xfrm>
          <a:prstGeom prst="roundRect">
            <a:avLst>
              <a:gd name="adj" fmla="val 16667"/>
            </a:avLst>
          </a:prstGeom>
          <a:solidFill>
            <a:srgbClr val="E0A83A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52578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enums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60120" y="56052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SalesStatus 1/2/3/4 → Open / Delivered / Invoiced / Cancelled.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26480" y="5129784"/>
            <a:ext cx="5440680" cy="1051560"/>
          </a:xfrm>
          <a:prstGeom prst="roundRect">
            <a:avLst>
              <a:gd name="adj" fmla="val 4348"/>
            </a:avLst>
          </a:prstGeom>
          <a:solidFill>
            <a:srgbClr val="1B3A5B"/>
          </a:solidFill>
          <a:ln w="12700">
            <a:solidFill>
              <a:srgbClr val="2E5E8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91072" y="5349240"/>
            <a:ext cx="109728" cy="612648"/>
          </a:xfrm>
          <a:prstGeom prst="roundRect">
            <a:avLst>
              <a:gd name="adj" fmla="val 16667"/>
            </a:avLst>
          </a:prstGeom>
          <a:solidFill>
            <a:srgbClr val="E0A83A"/>
          </a:solidFill>
          <a:ln/>
        </p:spPr>
      </p:sp>
      <p:sp>
        <p:nvSpPr>
          <p:cNvPr id="34" name="Text 32"/>
          <p:cNvSpPr/>
          <p:nvPr/>
        </p:nvSpPr>
        <p:spPr>
          <a:xfrm>
            <a:off x="6537960" y="52578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keys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537960" y="56052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composite PKs (SalesId + LineNum + DataAreaId) are unique.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E0A8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Grain must be designed — at every layer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2057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"Grain" = what one row means. Get it wrong and totals silently double. This is the single most important design choice in the whole pipeline.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3566160" cy="2788920"/>
          </a:xfrm>
          <a:prstGeom prst="roundRect">
            <a:avLst>
              <a:gd name="adj" fmla="val 1967"/>
            </a:avLst>
          </a:prstGeom>
          <a:solidFill>
            <a:srgbClr val="1B3A5B"/>
          </a:solidFill>
          <a:ln w="19050">
            <a:solidFill>
              <a:srgbClr val="9AA7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3154680"/>
            <a:ext cx="2194560" cy="502920"/>
          </a:xfrm>
          <a:prstGeom prst="roundRect">
            <a:avLst>
              <a:gd name="adj" fmla="val 9091"/>
            </a:avLst>
          </a:prstGeom>
          <a:solidFill>
            <a:srgbClr val="9AA7B4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154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grain — never changed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per source PK. silver.sales_line = 1 row per SalesId + LineNum. You clean, you don't reshape.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0832" y="2880360"/>
            <a:ext cx="3566160" cy="2788920"/>
          </a:xfrm>
          <a:prstGeom prst="roundRect">
            <a:avLst>
              <a:gd name="adj" fmla="val 1967"/>
            </a:avLst>
          </a:prstGeom>
          <a:solidFill>
            <a:srgbClr val="1B3A5B"/>
          </a:solidFill>
          <a:ln w="19050">
            <a:solidFill>
              <a:srgbClr val="E0A8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26864" y="3154680"/>
            <a:ext cx="2194560" cy="502920"/>
          </a:xfrm>
          <a:prstGeom prst="roundRect">
            <a:avLst>
              <a:gd name="adj" fmla="val 9091"/>
            </a:avLst>
          </a:prstGeom>
          <a:solidFill>
            <a:srgbClr val="E0A83A"/>
          </a:solidFill>
          <a:ln/>
        </p:spPr>
      </p:sp>
      <p:sp>
        <p:nvSpPr>
          <p:cNvPr id="13" name="Text 11"/>
          <p:cNvSpPr/>
          <p:nvPr/>
        </p:nvSpPr>
        <p:spPr>
          <a:xfrm>
            <a:off x="4626864" y="3154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· DIM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45152" y="37947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business entity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45152" y="45262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 = 1 row per customer (or per SCD version). Conformed — reused across every fact.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93024" y="2880360"/>
            <a:ext cx="3566160" cy="2788920"/>
          </a:xfrm>
          <a:prstGeom prst="roundRect">
            <a:avLst>
              <a:gd name="adj" fmla="val 1967"/>
            </a:avLst>
          </a:prstGeom>
          <a:solidFill>
            <a:srgbClr val="1B3A5B"/>
          </a:solidFill>
          <a:ln w="19050">
            <a:solidFill>
              <a:srgbClr val="2E5E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49056" y="3154680"/>
            <a:ext cx="2194560" cy="502920"/>
          </a:xfrm>
          <a:prstGeom prst="roundRect">
            <a:avLst>
              <a:gd name="adj" fmla="val 9091"/>
            </a:avLst>
          </a:prstGeom>
          <a:solidFill>
            <a:srgbClr val="2E5E82"/>
          </a:solidFill>
          <a:ln/>
        </p:spPr>
      </p:sp>
      <p:sp>
        <p:nvSpPr>
          <p:cNvPr id="18" name="Text 16"/>
          <p:cNvSpPr/>
          <p:nvPr/>
        </p:nvSpPr>
        <p:spPr>
          <a:xfrm>
            <a:off x="8449056" y="3154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· FACT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67344" y="37947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business event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67344" y="45262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fact_sales_invoice_line = 1 row per invoice line. Measures only + surrogate keys. Grain is explicit.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Grain gone wrong: the fan-out trap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bug we caught: joining an invoice line to InventTrans on InventTransId alone.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9050">
            <a:solidFill>
              <a:srgbClr val="B041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B0413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WRONG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invoice line  ⋈  N cost rows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InventTransId is NOT unique in InventTrans — one logical transaction has many physical rows (receipt + issue + adjustments).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4846320" cy="1691640"/>
          </a:xfrm>
          <a:prstGeom prst="roundRect">
            <a:avLst>
              <a:gd name="adj" fmla="val 2703"/>
            </a:avLst>
          </a:prstGeom>
          <a:solidFill>
            <a:srgbClr val="FBEEEE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97764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line: qty 10, revenue $1,000
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3 InventTrans rows  ⟶
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Reported: qty 30, revenue $3,000
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Margin, units, revenue — all inflated 3×.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9050">
            <a:solidFill>
              <a:srgbClr val="3E7D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192024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3E7D5A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RIGHT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Pre-aggregate cost to the join grain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29260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InventTrans on its true PK (RecId), then SUM cost to one row per InventTransId before joining.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3840480"/>
            <a:ext cx="4846320" cy="1691640"/>
          </a:xfrm>
          <a:prstGeom prst="roundRect">
            <a:avLst>
              <a:gd name="adj" fmla="val 2703"/>
            </a:avLst>
          </a:prstGeom>
          <a:solidFill>
            <a:srgbClr val="EAF3EE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397764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SUM(CostAmountPosted +
     CostAmountAdjustment)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E7D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InventTransId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stays 1:1  ⟶  qty 10, revenue $1,000.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Gold: conformed dimensions &amp; well-grained facts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deliberately cross entity boundaries — an entity could never share a dimension. Gold does.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E0A83A"/>
          </a:solidFill>
          <a:ln/>
          <a:effectLst>
            <a:outerShdw sx="100000" sy="100000" kx="0" ky="0" algn="bl" rotWithShape="0" blurRad="63500" dist="25400" dir="5400000">
              <a:srgbClr val="AAB4BE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459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16352" y="164592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E0A83A"/>
          </a:solidFill>
          <a:ln/>
          <a:effectLst>
            <a:outerShdw sx="100000" sy="100000" kx="0" ky="0" algn="bl" rotWithShape="0" blurRad="63500" dist="25400" dir="5400000">
              <a:srgbClr val="AAB4BE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816352" y="16459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84064" y="164592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E0A83A"/>
          </a:solidFill>
          <a:ln/>
          <a:effectLst>
            <a:outerShdw sx="100000" sy="100000" kx="0" ky="0" algn="bl" rotWithShape="0" blurRad="63500" dist="25400" dir="5400000">
              <a:srgbClr val="AAB4BE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84064" y="16459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51776" y="164592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E0A83A"/>
          </a:solidFill>
          <a:ln/>
          <a:effectLst>
            <a:outerShdw sx="100000" sy="100000" kx="0" ky="0" algn="bl" rotWithShape="0" blurRad="63500" dist="25400" dir="5400000">
              <a:srgbClr val="AAB4BE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51776" y="16459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dim_financial_dimension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19488" y="164592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E0A83A"/>
          </a:solidFill>
          <a:ln/>
          <a:effectLst>
            <a:outerShdw sx="100000" sy="100000" kx="0" ky="0" algn="bl" rotWithShape="0" blurRad="63500" dist="25400" dir="5400000">
              <a:srgbClr val="AAB4BE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19488" y="16459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dim_warehouse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606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DIMENSIONS  —  built once, reused by every fact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5440680" cy="1600200"/>
          </a:xfrm>
          <a:prstGeom prst="roundRect">
            <a:avLst>
              <a:gd name="adj" fmla="val 3429"/>
            </a:avLst>
          </a:prstGeom>
          <a:solidFill>
            <a:srgbClr val="2E5E82"/>
          </a:solidFill>
          <a:ln/>
          <a:effectLst>
            <a:outerShdw sx="100000" sy="100000" kx="0" ky="0" algn="bl" rotWithShape="0" blurRad="63500" dist="25400" dir="5400000">
              <a:srgbClr val="AAB4BE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3649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fact_sales_order_line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7673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/ order 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SalesLine + SalesTable + InventDim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4434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· backlog · delivery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200400"/>
            <a:ext cx="5440680" cy="1600200"/>
          </a:xfrm>
          <a:prstGeom prst="roundRect">
            <a:avLst>
              <a:gd name="adj" fmla="val 3429"/>
            </a:avLst>
          </a:prstGeom>
          <a:solidFill>
            <a:srgbClr val="2E5E82"/>
          </a:solidFill>
          <a:ln/>
          <a:effectLst>
            <a:outerShdw sx="100000" sy="100000" kx="0" ky="0" algn="bl" rotWithShape="0" blurRad="63500" dist="25400" dir="5400000">
              <a:srgbClr val="AAB4BE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33649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fact_sales_invoice_line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37673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/ invoice 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CustInvoiceTrans + CustInvoiceJour + InventTrans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46520" y="4434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COGS · margin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4892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FACTS  —  measures + surrogate keys, one deliberate grain each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394960"/>
            <a:ext cx="11109960" cy="868680"/>
          </a:xfrm>
          <a:prstGeom prst="roundRect">
            <a:avLst>
              <a:gd name="adj" fmla="val 6316"/>
            </a:avLst>
          </a:prstGeom>
          <a:solidFill>
            <a:srgbClr val="12233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3949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E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obt_revenue flattens fact + dims into one wide, query-ready table → Power BI. Looks like the old entity — but built on conformed dims, correct grain, and SCD handling.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Design principles to carry forward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five things from this architecture: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841248"/>
          </a:xfrm>
          <a:prstGeom prst="roundRect">
            <a:avLst>
              <a:gd name="adj" fmla="val 5435"/>
            </a:avLst>
          </a:prstGeom>
          <a:solidFill>
            <a:srgbClr val="1B3A5B"/>
          </a:solidFill>
          <a:ln w="12700">
            <a:solidFill>
              <a:srgbClr val="2E5E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91640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8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819656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on tables, not entities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89320" y="17830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 on stable physical tables upstream; reconstruct entity shapes downstream only where a report needs 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11109960" cy="841248"/>
          </a:xfrm>
          <a:prstGeom prst="roundRect">
            <a:avLst>
              <a:gd name="adj" fmla="val 5435"/>
            </a:avLst>
          </a:prstGeom>
          <a:solidFill>
            <a:srgbClr val="1B3A5B"/>
          </a:solidFill>
          <a:ln w="12700">
            <a:solidFill>
              <a:srgbClr val="2E5E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587752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8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91640" y="271576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keeps source grain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89320" y="267919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silver table per source table, cleaned but not reshaped — so every gold model can reuse 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11109960" cy="841248"/>
          </a:xfrm>
          <a:prstGeom prst="roundRect">
            <a:avLst>
              <a:gd name="adj" fmla="val 5435"/>
            </a:avLst>
          </a:prstGeom>
          <a:solidFill>
            <a:srgbClr val="1B3A5B"/>
          </a:solidFill>
          <a:ln w="12700">
            <a:solidFill>
              <a:srgbClr val="2E5E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483864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8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91640" y="36118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grain deliberately in gold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89320" y="3575304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= one row per entity. Fact = one row per event. Write the grain down before you write the SQL.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11109960" cy="841248"/>
          </a:xfrm>
          <a:prstGeom prst="roundRect">
            <a:avLst>
              <a:gd name="adj" fmla="val 5435"/>
            </a:avLst>
          </a:prstGeom>
          <a:solidFill>
            <a:srgbClr val="1B3A5B"/>
          </a:solidFill>
          <a:ln w="12700">
            <a:solidFill>
              <a:srgbClr val="2E5E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379976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8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91640" y="450799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Pre-aggregate before you join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89320" y="447141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the join is 1-to-many on a non-PK, collapse to the join grain first — or totals silently inflate.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11109960" cy="841248"/>
          </a:xfrm>
          <a:prstGeom prst="roundRect">
            <a:avLst>
              <a:gd name="adj" fmla="val 5435"/>
            </a:avLst>
          </a:prstGeom>
          <a:solidFill>
            <a:srgbClr val="1B3A5B"/>
          </a:solidFill>
          <a:ln w="12700">
            <a:solidFill>
              <a:srgbClr val="2E5E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5276088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8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691640" y="540410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your SCD keys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89320" y="536752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2 dim's surrogate key must include the version; facts join on the durable business key + is_current.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2026-07-14T14:07:50Z</dcterms:created>
  <dcterms:modified xsi:type="dcterms:W3CDTF">2026-07-14T14:07:50Z</dcterms:modified>
</cp:coreProperties>
</file>