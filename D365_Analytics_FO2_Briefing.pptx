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85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BRIEFING · DATA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12801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Dynamics 365 F&amp;O Analytics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85800" y="22860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5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Synapse Link EntityUtil scripts, and how they map to a Databricks lakehouse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85800" y="3657600"/>
            <a:ext cx="457200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5029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53492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architects, engineers, analytics leads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60520" y="5029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60520" y="53492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microsoft/Dynamics-365-FastTrack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635240" y="5029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635240" y="53492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medallion architecture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questions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briefing answers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85800" y="2286000"/>
            <a:ext cx="1188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2011680" y="22860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are the EntityUtil and AdditionalScripts, really?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011680" y="27432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Origin, purpose, and whether they belong in your architecture at all.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3383280"/>
            <a:ext cx="1188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2011680" y="33832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do they run, and where do they NOT run?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011680" y="38404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machine, D365 sandbox, target SQL database — and importantly, not in Databricks.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4480560"/>
            <a:ext cx="1188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2011680" y="44805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does this map to our Raw / Silver / Gold / OBT lakehouse?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011680" y="49377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layer contains, which script logic maps where, and where the common traps are.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6355080"/>
            <a:ext cx="11274552" cy="0"/>
          </a:xfrm>
          <a:prstGeom prst="line">
            <a:avLst/>
          </a:prstGeom>
          <a:noFill/>
          <a:ln w="9525">
            <a:solidFill>
              <a:srgbClr val="D8DD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64190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515600" y="6419088"/>
            <a:ext cx="1216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TL;DR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essential facts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85800" y="2194560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2000" dirty="0"/>
          </a:p>
        </p:txBody>
      </p:sp>
      <p:sp>
        <p:nvSpPr>
          <p:cNvPr id="5" name="Text 3"/>
          <p:cNvSpPr/>
          <p:nvPr/>
        </p:nvSpPr>
        <p:spPr>
          <a:xfrm>
            <a:off x="685800" y="42976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run in Databricks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0" y="2286000"/>
            <a:ext cx="7040880" cy="1280160"/>
          </a:xfrm>
          <a:prstGeom prst="rect">
            <a:avLst/>
          </a:prstGeom>
          <a:solidFill>
            <a:srgbClr val="142B4D"/>
          </a:solidFill>
          <a:ln w="12700">
            <a:solidFill>
              <a:srgbClr val="142B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0" y="2423160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ARE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846320" y="2743200"/>
            <a:ext cx="6492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tooling from BYOD to Synapse Link. They recreate BYOD-style entity views on top of raw Synapse Link tables.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0" y="3703320"/>
            <a:ext cx="7040880" cy="1280160"/>
          </a:xfrm>
          <a:prstGeom prst="rect">
            <a:avLst/>
          </a:prstGeom>
          <a:solidFill>
            <a:srgbClr val="142B4D"/>
          </a:solidFill>
          <a:ln w="12700">
            <a:solidFill>
              <a:srgbClr val="142B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3840480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THEY RUN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46320" y="4160520"/>
            <a:ext cx="6492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 on a local Windows machine, connecting outbound to a D365 sandbox and a Synapse / Fabric / Azure SQL target.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0" y="5120640"/>
            <a:ext cx="7040880" cy="1280160"/>
          </a:xfrm>
          <a:prstGeom prst="rect">
            <a:avLst/>
          </a:prstGeom>
          <a:solidFill>
            <a:srgbClr val="142B4D"/>
          </a:solidFill>
          <a:ln w="12700">
            <a:solidFill>
              <a:srgbClr val="142B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5257800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THEY MATTER TO US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0" y="5577840"/>
            <a:ext cx="6492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as scripts to run — as a blueprint. The join logic they encode is exactly what your Silver and Gold layers need to reproduce in Spark.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6355080"/>
            <a:ext cx="11274552" cy="0"/>
          </a:xfrm>
          <a:prstGeom prst="line">
            <a:avLst/>
          </a:prstGeom>
          <a:noFill/>
          <a:ln w="9525">
            <a:solidFill>
              <a:srgbClr val="D8DD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64190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515600" y="6419088"/>
            <a:ext cx="1216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&amp; context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these scripts exist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BYOD gave flat entities. Synapse Link gives raw tables. The scripts bridge the gap.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2377440"/>
            <a:ext cx="5394960" cy="3657600"/>
          </a:xfrm>
          <a:prstGeom prst="roundRect">
            <a:avLst>
              <a:gd name="adj" fmla="val 2500"/>
            </a:avLst>
          </a:prstGeom>
          <a:solidFill>
            <a:srgbClr val="F2F5FA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6517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BYOD (LEGACY)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30175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Pre-joined entity views on a schedule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51560" y="374904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</a:rPr>
              <a:t>•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374904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batch export from F&amp;O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4133088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</a:rPr>
              <a:t>•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4133088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pre-joined data entities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4517136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</a:rPr>
              <a:t>•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4517136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CustCustomerV3Entity = 10+ tables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4901184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</a:rPr>
              <a:t>•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4901184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consumed the flat entity directly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5285232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</a:rPr>
              <a:t>•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5285232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deprecated: locks source, doesn't scale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09360" y="2377440"/>
            <a:ext cx="5212080" cy="3657600"/>
          </a:xfrm>
          <a:prstGeom prst="roundRect">
            <a:avLst>
              <a:gd name="adj" fmla="val 2500"/>
            </a:avLst>
          </a:prstGeom>
          <a:solidFill>
            <a:srgbClr val="F2F5FA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29400" y="2651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SYNAPSE LINK (CURRENT)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29400" y="30175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tables, near-real-time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675120" y="374904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</a:rPr>
              <a:t>•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03720" y="374904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Change-tracked replication to ADLS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675120" y="4133088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</a:rPr>
              <a:t>•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03720" y="4133088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base tables, not entities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517136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</a:rPr>
              <a:t>•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903720" y="4517136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responsible for reconstruction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675120" y="4901184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</a:rPr>
              <a:t>•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03720" y="4901184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Inherited tables land as fragments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675120" y="5285232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</a:rPr>
              <a:t>•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903720" y="5285232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Enums stay as integers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7200" y="6355080"/>
            <a:ext cx="11274552" cy="0"/>
          </a:xfrm>
          <a:prstGeom prst="line">
            <a:avLst/>
          </a:prstGeom>
          <a:noFill/>
          <a:ln w="9525">
            <a:solidFill>
              <a:srgbClr val="D8DD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64190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&amp; context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515600" y="6419088"/>
            <a:ext cx="1216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scripts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file inventory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directories, ten files, one purpose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2377440"/>
            <a:ext cx="914400" cy="4572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3774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00200" y="2377440"/>
            <a:ext cx="3108960" cy="4572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37360" y="23774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/ file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2377440"/>
            <a:ext cx="1371600" cy="4572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23774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80760" y="2377440"/>
            <a:ext cx="5486400" cy="4572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23774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2834640"/>
            <a:ext cx="10881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83464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737360" y="28346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get_derivetables.sql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28346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T-SQL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0" y="283464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Discovery: inheritance parent → child mapping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" y="3218688"/>
            <a:ext cx="10881360" cy="384048"/>
          </a:xfrm>
          <a:prstGeom prst="rect">
            <a:avLst/>
          </a:prstGeom>
          <a:solidFill>
            <a:srgbClr val="F2F5FA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218688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737360" y="321868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GenerateEntityDependency.ps1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321868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17920" y="3218688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entity DDL from sandbox → dependencies.json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5800" y="3602736"/>
            <a:ext cx="10881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3602736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737360" y="360273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config.json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360273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17920" y="3602736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connection &amp; entity list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85800" y="3986784"/>
            <a:ext cx="10881360" cy="384048"/>
          </a:xfrm>
          <a:prstGeom prst="rect">
            <a:avLst/>
          </a:prstGeom>
          <a:solidFill>
            <a:srgbClr val="F2F5FA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3986784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737360" y="398678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ReplaceViewSyntax.json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46320" y="398678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17920" y="3986784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syntax find-and-replace rules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85800" y="4370832"/>
            <a:ext cx="10881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60" y="437083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737360" y="437083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ReplaceFabricViewSyntax.json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46320" y="437083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17920" y="4370832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 case-sensitivity fixes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85800" y="4754880"/>
            <a:ext cx="10881360" cy="384048"/>
          </a:xfrm>
          <a:prstGeom prst="rect">
            <a:avLst/>
          </a:prstGeom>
          <a:solidFill>
            <a:srgbClr val="F2F5FA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2960" y="475488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737360" y="475488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tableinheritance.json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846320" y="47548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217920" y="475488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Parent-child mapping fed to Step 5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85800" y="5138928"/>
            <a:ext cx="10881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2960" y="5138928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737360" y="513892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GenerateInheritedTables.ps1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846320" y="513892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217920" y="5138928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Reassembles inherited tables as views (Fabric/Serverless)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85800" y="5522976"/>
            <a:ext cx="10881360" cy="384048"/>
          </a:xfrm>
          <a:prstGeom prst="rect">
            <a:avLst/>
          </a:prstGeom>
          <a:solidFill>
            <a:srgbClr val="F2F5FA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960" y="5522976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737360" y="552297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EntityUtil.ps1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846320" y="552297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217920" y="5522976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entity views in target from dependencies.json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85800" y="5907024"/>
            <a:ext cx="10881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22960" y="5907024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3-4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1737360" y="590702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DeleteViewsFromSynapse.ps1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4846320" y="590702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217920" y="5907024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Cleanup — drops views from target or source DB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685800" y="6291072"/>
            <a:ext cx="10881360" cy="384048"/>
          </a:xfrm>
          <a:prstGeom prst="rect">
            <a:avLst/>
          </a:prstGeom>
          <a:solidFill>
            <a:srgbClr val="F2F5FA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22960" y="629107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1737360" y="629107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RunEntityUtil.ps1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4846320" y="629107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6217920" y="6291072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Menu-driven entry point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457200" y="6355080"/>
            <a:ext cx="11274552" cy="0"/>
          </a:xfrm>
          <a:prstGeom prst="line">
            <a:avLst/>
          </a:prstGeom>
          <a:noFill/>
          <a:ln w="9525">
            <a:solidFill>
              <a:srgbClr val="D8DDE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7200" y="64190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scripts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10515600" y="6419088"/>
            <a:ext cx="1216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model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scripts run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runs on a local Windows machine; it connects outbound to two databases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0" y="2468880"/>
            <a:ext cx="3017520" cy="1280160"/>
          </a:xfrm>
          <a:prstGeom prst="roundRect">
            <a:avLst>
              <a:gd name="adj" fmla="val 7143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0" y="26517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LOCAL MACHINE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754880" y="29718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Windows + PowerShell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54880" y="32918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Azure CLI + SSMS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4206240"/>
            <a:ext cx="3200400" cy="1463040"/>
          </a:xfrm>
          <a:prstGeom prst="roundRect">
            <a:avLst>
              <a:gd name="adj" fmla="val 6250"/>
            </a:avLst>
          </a:prstGeom>
          <a:solidFill>
            <a:srgbClr val="F2F5FA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43891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— D365 SANDBOX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47091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AxDB via LCS JIT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507492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 Step 0 (get_derivetables.sql) and Step 1 (GenerateEntityDependency)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321040" y="4206240"/>
            <a:ext cx="3200400" cy="1463040"/>
          </a:xfrm>
          <a:prstGeom prst="roundRect">
            <a:avLst>
              <a:gd name="adj" fmla="val 6250"/>
            </a:avLst>
          </a:prstGeom>
          <a:solidFill>
            <a:srgbClr val="F2F5FA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0" y="43891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— SQL DATABASE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503920" y="47091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Synapse / Fabric / Azure SQL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03920" y="507492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 Steps 2, 3, 5 via Azure AD auth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0" y="3931920"/>
            <a:ext cx="2286000" cy="182880"/>
          </a:xfrm>
          <a:prstGeom prst="line">
            <a:avLst/>
          </a:prstGeom>
          <a:noFill/>
          <a:ln w="38100">
            <a:solidFill>
              <a:srgbClr val="B45309"/>
            </a:solidFill>
            <a:prstDash val="solid"/>
            <a:headEnd type="triangl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589520" y="3931920"/>
            <a:ext cx="2286000" cy="274320"/>
          </a:xfrm>
          <a:prstGeom prst="line">
            <a:avLst/>
          </a:prstGeom>
          <a:noFill/>
          <a:ln w="38100">
            <a:solidFill>
              <a:srgbClr val="065A82"/>
            </a:solidFill>
            <a:prstDash val="solid"/>
            <a:headEnd type="triangl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2468880" y="37033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772400" y="37947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+ WRITE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0" y="4937760"/>
            <a:ext cx="3017520" cy="73152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49834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dependencies.json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754880" y="532180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file — written by Step 1, read by Step 2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80760" y="3749040"/>
            <a:ext cx="0" cy="118872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57200" y="6355080"/>
            <a:ext cx="11274552" cy="0"/>
          </a:xfrm>
          <a:prstGeom prst="line">
            <a:avLst/>
          </a:prstGeom>
          <a:noFill/>
          <a:ln w="9525">
            <a:solidFill>
              <a:srgbClr val="D8DD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64190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model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515600" y="6419088"/>
            <a:ext cx="1216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model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Execution order (corrected)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menu numbering is misleading — Step 5 must run before Step 2 on Fabric or Serverless replica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651760"/>
            <a:ext cx="2633472" cy="2743200"/>
          </a:xfrm>
          <a:prstGeom prst="roundRect">
            <a:avLst>
              <a:gd name="adj" fmla="val 3472"/>
            </a:avLst>
          </a:prstGeom>
          <a:solidFill>
            <a:srgbClr val="F2F5FA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926080"/>
            <a:ext cx="822960" cy="82296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926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874520" y="2971800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74520" y="3246120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SSMS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3931920"/>
            <a:ext cx="2313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get_derivetables.sql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4480560"/>
            <a:ext cx="23134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Enumerate inherited-table hierarchy in D365 sandbox.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73552" y="384048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B6B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3456432" y="2651760"/>
            <a:ext cx="2633472" cy="2743200"/>
          </a:xfrm>
          <a:prstGeom prst="roundRect">
            <a:avLst>
              <a:gd name="adj" fmla="val 3472"/>
            </a:avLst>
          </a:prstGeom>
          <a:solidFill>
            <a:srgbClr val="F2F5FA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85032" y="2926080"/>
            <a:ext cx="822960" cy="82296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85032" y="2926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645152" y="2971800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45152" y="3246120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39312" y="3931920"/>
            <a:ext cx="2313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GenerateEntityDependency.ps1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39312" y="4480560"/>
            <a:ext cx="23134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Recursively resolve entity dependencies → dependencies.json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044184" y="384048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B6B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3200" dirty="0"/>
          </a:p>
        </p:txBody>
      </p:sp>
      <p:sp>
        <p:nvSpPr>
          <p:cNvPr id="21" name="Shape 19"/>
          <p:cNvSpPr/>
          <p:nvPr/>
        </p:nvSpPr>
        <p:spPr>
          <a:xfrm>
            <a:off x="6227064" y="2651760"/>
            <a:ext cx="2633472" cy="2743200"/>
          </a:xfrm>
          <a:prstGeom prst="roundRect">
            <a:avLst>
              <a:gd name="adj" fmla="val 3472"/>
            </a:avLst>
          </a:prstGeom>
          <a:solidFill>
            <a:srgbClr val="DBEAFE"/>
          </a:solidFill>
          <a:ln w="25400">
            <a:solidFill>
              <a:srgbClr val="1D4E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55664" y="2926080"/>
            <a:ext cx="822960" cy="8229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55664" y="2926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7415784" y="2971800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415784" y="3246120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9944" y="3931920"/>
            <a:ext cx="2313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GenerateInheritedTables.ps1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9944" y="4480560"/>
            <a:ext cx="23134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Reassemble parent + child tables into unified views.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814816" y="384048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B6B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3200" dirty="0"/>
          </a:p>
        </p:txBody>
      </p:sp>
      <p:sp>
        <p:nvSpPr>
          <p:cNvPr id="29" name="Shape 27"/>
          <p:cNvSpPr/>
          <p:nvPr/>
        </p:nvSpPr>
        <p:spPr>
          <a:xfrm>
            <a:off x="8997696" y="2651760"/>
            <a:ext cx="2633472" cy="2743200"/>
          </a:xfrm>
          <a:prstGeom prst="roundRect">
            <a:avLst>
              <a:gd name="adj" fmla="val 3472"/>
            </a:avLst>
          </a:prstGeom>
          <a:solidFill>
            <a:srgbClr val="F2F5FA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226296" y="2926080"/>
            <a:ext cx="822960" cy="8229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226296" y="2926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10186416" y="2971800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VIEWS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186416" y="3246120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180576" y="3931920"/>
            <a:ext cx="2313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EntityUtil.ps1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180576" y="4480560"/>
            <a:ext cx="23134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entity views from dependencies.json — the payoff.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85800" y="5623560"/>
            <a:ext cx="10881360" cy="0"/>
          </a:xfrm>
          <a:prstGeom prst="line">
            <a:avLst/>
          </a:prstGeom>
          <a:noFill/>
          <a:ln w="6350">
            <a:solidFill>
              <a:srgbClr val="D8DDE6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685800" y="5715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Cleanup utilities (only when re-running)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85800" y="59893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drops views in target · Step 4 — drops views in source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57200" y="6355080"/>
            <a:ext cx="11274552" cy="0"/>
          </a:xfrm>
          <a:prstGeom prst="line">
            <a:avLst/>
          </a:prstGeom>
          <a:noFill/>
          <a:ln w="9525">
            <a:solidFill>
              <a:srgbClr val="D8DDE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64190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model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0515600" y="6419088"/>
            <a:ext cx="1216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model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step: source, output, consumer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2194560"/>
            <a:ext cx="640080" cy="4114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219456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25880" y="2194560"/>
            <a:ext cx="2743200" cy="4114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35608" y="219456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069080" y="2194560"/>
            <a:ext cx="2377440" cy="4114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78808" y="219456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from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46520" y="2194560"/>
            <a:ext cx="2377440" cy="4114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56248" y="219456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to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823960" y="2194560"/>
            <a:ext cx="2743200" cy="4114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33688" y="219456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Consumed by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5800" y="2606040"/>
            <a:ext cx="6400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" y="260604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325880" y="2606040"/>
            <a:ext cx="27432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35608" y="260604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get_derivetables.sql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069080" y="2606040"/>
            <a:ext cx="23774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78808" y="260604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D365 sandbox metadata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46520" y="2606040"/>
            <a:ext cx="23774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56248" y="260604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SSMS query grid (screen only)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823960" y="2606040"/>
            <a:ext cx="27432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33688" y="260604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— manually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2990088"/>
            <a:ext cx="640080" cy="384048"/>
          </a:xfrm>
          <a:prstGeom prst="rect">
            <a:avLst/>
          </a:prstGeom>
          <a:solidFill>
            <a:srgbClr val="F2F5FA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5528" y="299008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325880" y="2990088"/>
            <a:ext cx="2743200" cy="384048"/>
          </a:xfrm>
          <a:prstGeom prst="rect">
            <a:avLst/>
          </a:prstGeom>
          <a:solidFill>
            <a:srgbClr val="F2F5FA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35608" y="299008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GenerateEntityDependency.ps1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069080" y="2990088"/>
            <a:ext cx="2377440" cy="384048"/>
          </a:xfrm>
          <a:prstGeom prst="rect">
            <a:avLst/>
          </a:prstGeom>
          <a:solidFill>
            <a:srgbClr val="F2F5FA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78808" y="299008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D365 sandbox (via JIT)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46520" y="2990088"/>
            <a:ext cx="2377440" cy="384048"/>
          </a:xfrm>
          <a:prstGeom prst="rect">
            <a:avLst/>
          </a:prstGeom>
          <a:solidFill>
            <a:srgbClr val="F2F5FA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56248" y="299008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dependencies.json (local file)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823960" y="2990088"/>
            <a:ext cx="2743200" cy="384048"/>
          </a:xfrm>
          <a:prstGeom prst="rect">
            <a:avLst/>
          </a:prstGeom>
          <a:solidFill>
            <a:srgbClr val="F2F5FA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933688" y="299008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85800" y="3374136"/>
            <a:ext cx="6400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95528" y="337413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cfg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325880" y="3374136"/>
            <a:ext cx="27432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35608" y="337413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config.json + JSON files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069080" y="3374136"/>
            <a:ext cx="23774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78808" y="3374136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46520" y="3374136"/>
            <a:ext cx="23774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56248" y="3374136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disk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823960" y="3374136"/>
            <a:ext cx="27432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933688" y="337413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1–5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85800" y="3758184"/>
            <a:ext cx="640080" cy="384048"/>
          </a:xfrm>
          <a:prstGeom prst="rect">
            <a:avLst/>
          </a:prstGeom>
          <a:solidFill>
            <a:srgbClr val="F2F5FA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95528" y="3758184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325880" y="3758184"/>
            <a:ext cx="2743200" cy="384048"/>
          </a:xfrm>
          <a:prstGeom prst="rect">
            <a:avLst/>
          </a:prstGeom>
          <a:solidFill>
            <a:srgbClr val="F2F5FA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435608" y="375818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GenerateInheritedTables.ps1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069080" y="3758184"/>
            <a:ext cx="2377440" cy="384048"/>
          </a:xfrm>
          <a:prstGeom prst="rect">
            <a:avLst/>
          </a:prstGeom>
          <a:solidFill>
            <a:srgbClr val="F2F5FA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78808" y="3758184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tableinheritance.json + target DB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446520" y="3758184"/>
            <a:ext cx="2377440" cy="384048"/>
          </a:xfrm>
          <a:prstGeom prst="rect">
            <a:avLst/>
          </a:prstGeom>
          <a:solidFill>
            <a:srgbClr val="F2F5FA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56248" y="3758184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in target DB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823960" y="3758184"/>
            <a:ext cx="2743200" cy="384048"/>
          </a:xfrm>
          <a:prstGeom prst="rect">
            <a:avLst/>
          </a:prstGeom>
          <a:solidFill>
            <a:srgbClr val="F2F5FA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933688" y="375818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entity views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85800" y="4142232"/>
            <a:ext cx="6400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95528" y="414223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1325880" y="4142232"/>
            <a:ext cx="27432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435608" y="414223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EntityUtil.ps1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069080" y="4142232"/>
            <a:ext cx="23774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178808" y="4142232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dependencies.json + replace rules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6446520" y="4142232"/>
            <a:ext cx="23774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556248" y="4142232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in target DB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8823960" y="4142232"/>
            <a:ext cx="27432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933688" y="414223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BI, ADF, SQL clients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685800" y="4526280"/>
            <a:ext cx="640080" cy="384048"/>
          </a:xfrm>
          <a:prstGeom prst="rect">
            <a:avLst/>
          </a:prstGeom>
          <a:solidFill>
            <a:srgbClr val="F2F5FA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95528" y="452628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1325880" y="4526280"/>
            <a:ext cx="2743200" cy="384048"/>
          </a:xfrm>
          <a:prstGeom prst="rect">
            <a:avLst/>
          </a:prstGeom>
          <a:solidFill>
            <a:srgbClr val="F2F5FA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435608" y="452628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DeleteViewsFromSynapse (tgt)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4069080" y="4526280"/>
            <a:ext cx="2377440" cy="384048"/>
          </a:xfrm>
          <a:prstGeom prst="rect">
            <a:avLst/>
          </a:prstGeom>
          <a:solidFill>
            <a:srgbClr val="F2F5FA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178808" y="452628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DB catalog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6446520" y="4526280"/>
            <a:ext cx="2377440" cy="384048"/>
          </a:xfrm>
          <a:prstGeom prst="rect">
            <a:avLst/>
          </a:prstGeom>
          <a:solidFill>
            <a:srgbClr val="F2F5FA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556248" y="452628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statements to target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8823960" y="4526280"/>
            <a:ext cx="2743200" cy="384048"/>
          </a:xfrm>
          <a:prstGeom prst="rect">
            <a:avLst/>
          </a:prstGeom>
          <a:solidFill>
            <a:srgbClr val="F2F5FA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933688" y="452628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 — cleanup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685800" y="4910328"/>
            <a:ext cx="6400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95528" y="491032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1325880" y="4910328"/>
            <a:ext cx="27432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435608" y="491032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DeleteViewsFromSynapse (src)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4069080" y="4910328"/>
            <a:ext cx="23774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178808" y="491032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serverless DB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6446520" y="4910328"/>
            <a:ext cx="23774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556248" y="491032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statements to source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8823960" y="4910328"/>
            <a:ext cx="27432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933688" y="491032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 — cleanup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685800" y="5394960"/>
            <a:ext cx="5349240" cy="822960"/>
          </a:xfrm>
          <a:prstGeom prst="roundRect">
            <a:avLst>
              <a:gd name="adj" fmla="val 8889"/>
            </a:avLst>
          </a:prstGeom>
          <a:solidFill>
            <a:srgbClr val="DBEAFE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868680" y="54864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dependencies.json is the pivot</a:t>
            </a:r>
            <a:endParaRPr lang="en-US" sz="1200" dirty="0"/>
          </a:p>
        </p:txBody>
      </p:sp>
      <p:sp>
        <p:nvSpPr>
          <p:cNvPr id="86" name="Text 84"/>
          <p:cNvSpPr/>
          <p:nvPr/>
        </p:nvSpPr>
        <p:spPr>
          <a:xfrm>
            <a:off x="868680" y="57607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once by Step 1. Every downstream step reads from it — the sandbox is not touched again.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6217920" y="5394960"/>
            <a:ext cx="5349240" cy="822960"/>
          </a:xfrm>
          <a:prstGeom prst="roundRect">
            <a:avLst>
              <a:gd name="adj" fmla="val 8889"/>
            </a:avLst>
          </a:prstGeom>
          <a:solidFill>
            <a:srgbClr val="FEF3C7"/>
          </a:solidFill>
          <a:ln w="6350">
            <a:solidFill>
              <a:srgbClr val="B45309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400800" y="54864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order ≠ execution order</a:t>
            </a:r>
            <a:endParaRPr lang="en-US" sz="1200" dirty="0"/>
          </a:p>
        </p:txBody>
      </p:sp>
      <p:sp>
        <p:nvSpPr>
          <p:cNvPr id="89" name="Text 87"/>
          <p:cNvSpPr/>
          <p:nvPr/>
        </p:nvSpPr>
        <p:spPr>
          <a:xfrm>
            <a:off x="6400800" y="57607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Fabric or Serverless replica, Step 5 must run before Step 2 or entity views will fail.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457200" y="6355080"/>
            <a:ext cx="11274552" cy="0"/>
          </a:xfrm>
          <a:prstGeom prst="line">
            <a:avLst/>
          </a:prstGeom>
          <a:noFill/>
          <a:ln w="9525">
            <a:solidFill>
              <a:srgbClr val="D8DDE6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57200" y="64190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model</a:t>
            </a:r>
            <a:endParaRPr lang="en-US" sz="1000" dirty="0"/>
          </a:p>
        </p:txBody>
      </p:sp>
      <p:sp>
        <p:nvSpPr>
          <p:cNvPr id="92" name="Text 90"/>
          <p:cNvSpPr/>
          <p:nvPr/>
        </p:nvSpPr>
        <p:spPr>
          <a:xfrm>
            <a:off x="10515600" y="6419088"/>
            <a:ext cx="1216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mapping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Medallion architecture — end to end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→ Silver → Gold → OBT → Insights, with EntityUtil analogues mapped in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468880"/>
            <a:ext cx="2157984" cy="3291840"/>
          </a:xfrm>
          <a:prstGeom prst="roundRect">
            <a:avLst>
              <a:gd name="adj" fmla="val 4237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651760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1883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22960" y="3383280"/>
            <a:ext cx="731520" cy="0"/>
          </a:xfrm>
          <a:prstGeom prst="line">
            <a:avLst/>
          </a:prstGeom>
          <a:noFill/>
          <a:ln w="12700">
            <a:solidFill>
              <a:srgbClr val="B4530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520440"/>
            <a:ext cx="188366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Synapse Link exports — untouched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4937760"/>
            <a:ext cx="1883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EntityUtil analogue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22960" y="5212080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862072" y="393192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980944" y="2468880"/>
            <a:ext cx="2157984" cy="3291840"/>
          </a:xfrm>
          <a:prstGeom prst="roundRect">
            <a:avLst>
              <a:gd name="adj" fmla="val 4237"/>
            </a:avLst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18104" y="2651760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SILVER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118104" y="3017520"/>
            <a:ext cx="1883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118104" y="3383280"/>
            <a:ext cx="731520" cy="0"/>
          </a:xfrm>
          <a:prstGeom prst="line">
            <a:avLst/>
          </a:prstGeom>
          <a:noFill/>
          <a:ln w="12700">
            <a:solidFill>
              <a:srgbClr val="1D4E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18104" y="3520440"/>
            <a:ext cx="188366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D365 table made whole and clean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118104" y="4937760"/>
            <a:ext cx="1883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EntityUtil analogue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118104" y="5212080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157216" y="393192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276088" y="2468880"/>
            <a:ext cx="2157984" cy="3291840"/>
          </a:xfrm>
          <a:prstGeom prst="roundRect">
            <a:avLst>
              <a:gd name="adj" fmla="val 4237"/>
            </a:avLst>
          </a:prstGeom>
          <a:solidFill>
            <a:srgbClr val="D1FAE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13248" y="2651760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47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13248" y="3017520"/>
            <a:ext cx="1883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 + FACT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13248" y="3383280"/>
            <a:ext cx="731520" cy="0"/>
          </a:xfrm>
          <a:prstGeom prst="line">
            <a:avLst/>
          </a:prstGeom>
          <a:noFill/>
          <a:ln w="12700">
            <a:solidFill>
              <a:srgbClr val="04785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13248" y="3520440"/>
            <a:ext cx="188366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— dimensions and facts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13248" y="4937760"/>
            <a:ext cx="1883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EntityUtil analogue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413248" y="5212080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7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452360" y="393192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571232" y="2468880"/>
            <a:ext cx="2157984" cy="3291840"/>
          </a:xfrm>
          <a:prstGeom prst="roundRect">
            <a:avLst>
              <a:gd name="adj" fmla="val 4237"/>
            </a:avLst>
          </a:prstGeom>
          <a:solidFill>
            <a:srgbClr val="FCE7F3"/>
          </a:solidFill>
          <a:ln w="12700">
            <a:solidFill>
              <a:srgbClr val="9D174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08392" y="2651760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D17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OBT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708392" y="3017520"/>
            <a:ext cx="1883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BIG TABLE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708392" y="3383280"/>
            <a:ext cx="731520" cy="0"/>
          </a:xfrm>
          <a:prstGeom prst="line">
            <a:avLst/>
          </a:prstGeom>
          <a:noFill/>
          <a:ln w="12700">
            <a:solidFill>
              <a:srgbClr val="9D174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08392" y="3520440"/>
            <a:ext cx="188366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Denormalised wide tables per domain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708392" y="4937760"/>
            <a:ext cx="1883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EntityUtil analogue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708392" y="5212080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D17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n/a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747504" y="393192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9866376" y="2468880"/>
            <a:ext cx="2157984" cy="3291840"/>
          </a:xfrm>
          <a:prstGeom prst="roundRect">
            <a:avLst>
              <a:gd name="adj" fmla="val 4237"/>
            </a:avLst>
          </a:prstGeom>
          <a:solidFill>
            <a:srgbClr val="F2F5FA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003536" y="2651760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0003536" y="3017520"/>
            <a:ext cx="1883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+ ML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0003536" y="3383280"/>
            <a:ext cx="731520" cy="0"/>
          </a:xfrm>
          <a:prstGeom prst="line">
            <a:avLst/>
          </a:prstGeom>
          <a:noFill/>
          <a:ln w="12700">
            <a:solidFill>
              <a:srgbClr val="21295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003536" y="3520440"/>
            <a:ext cx="188366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BI, ML, alerts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0003536" y="4937760"/>
            <a:ext cx="1883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EntityUtil analogue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0003536" y="5212080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n/a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85800" y="59436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and Gold do different jobs. Silver reassembles single tables. Gold joins many tables into business shapes. Keep them separate.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57200" y="6355080"/>
            <a:ext cx="11274552" cy="0"/>
          </a:xfrm>
          <a:prstGeom prst="line">
            <a:avLst/>
          </a:prstGeom>
          <a:noFill/>
          <a:ln w="9525">
            <a:solidFill>
              <a:srgbClr val="D8DDE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64190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mapping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0515600" y="6419088"/>
            <a:ext cx="1216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dive: layers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layer — what to land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every child table from get_derivetables.sql — do NOT filter deletes or infrastructure columns here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286000"/>
            <a:ext cx="5440680" cy="868680"/>
          </a:xfrm>
          <a:prstGeom prst="roundRect">
            <a:avLst>
              <a:gd name="adj" fmla="val 8421"/>
            </a:avLst>
          </a:prstGeom>
          <a:solidFill>
            <a:srgbClr val="FEF3C7"/>
          </a:solidFill>
          <a:ln w="6350">
            <a:solidFill>
              <a:srgbClr val="B4530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37744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PARTY / ADDRESS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2633472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dirpartytable, companyinfo, dirperson, dirorganization, logisticspostaladdress, logisticslocation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63640" y="2286000"/>
            <a:ext cx="5440680" cy="868680"/>
          </a:xfrm>
          <a:prstGeom prst="roundRect">
            <a:avLst>
              <a:gd name="adj" fmla="val 8421"/>
            </a:avLst>
          </a:prstGeom>
          <a:solidFill>
            <a:srgbClr val="FEF3C7"/>
          </a:solidFill>
          <a:ln w="6350">
            <a:solidFill>
              <a:srgbClr val="B4530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237744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/ VENDOR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46520" y="2633472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custtable, custgroup, vendtable, vendgroup, custsettlement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85800" y="3291840"/>
            <a:ext cx="5440680" cy="868680"/>
          </a:xfrm>
          <a:prstGeom prst="roundRect">
            <a:avLst>
              <a:gd name="adj" fmla="val 8421"/>
            </a:avLst>
          </a:prstGeom>
          <a:solidFill>
            <a:srgbClr val="FEF3C7"/>
          </a:solidFill>
          <a:ln w="6350">
            <a:solidFill>
              <a:srgbClr val="B4530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38328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3639312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ecoresproduct, ecoresdistinctproduct, ecoresproductmaster, inventtable, unitofmeasure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63640" y="3291840"/>
            <a:ext cx="5440680" cy="868680"/>
          </a:xfrm>
          <a:prstGeom prst="roundRect">
            <a:avLst>
              <a:gd name="adj" fmla="val 8421"/>
            </a:avLst>
          </a:prstGeom>
          <a:solidFill>
            <a:srgbClr val="FEF3C7"/>
          </a:solidFill>
          <a:ln w="6350">
            <a:solidFill>
              <a:srgbClr val="B4530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338328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46520" y="3639312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salestable, salesline, custinvoicejour, custinvoicetrans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5800" y="4297680"/>
            <a:ext cx="5440680" cy="868680"/>
          </a:xfrm>
          <a:prstGeom prst="roundRect">
            <a:avLst>
              <a:gd name="adj" fmla="val 8421"/>
            </a:avLst>
          </a:prstGeom>
          <a:solidFill>
            <a:srgbClr val="FEF3C7"/>
          </a:solidFill>
          <a:ln w="6350">
            <a:solidFill>
              <a:srgbClr val="B4530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38912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8680" y="4645152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purchtable, purchline, vendinvoicejour, vendinvoicetrans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63640" y="4297680"/>
            <a:ext cx="5440680" cy="868680"/>
          </a:xfrm>
          <a:prstGeom prst="roundRect">
            <a:avLst>
              <a:gd name="adj" fmla="val 8421"/>
            </a:avLst>
          </a:prstGeom>
          <a:solidFill>
            <a:srgbClr val="FEF3C7"/>
          </a:solidFill>
          <a:ln w="6350">
            <a:solidFill>
              <a:srgbClr val="B4530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438912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/ GL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46520" y="4645152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generaljournalentry, mainaccount, dimensionattributevaluecombination, ledger, custtrans, vendtrans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5800" y="5303520"/>
            <a:ext cx="5440680" cy="868680"/>
          </a:xfrm>
          <a:prstGeom prst="roundRect">
            <a:avLst>
              <a:gd name="adj" fmla="val 8421"/>
            </a:avLst>
          </a:prstGeom>
          <a:solidFill>
            <a:srgbClr val="FEF3C7"/>
          </a:solidFill>
          <a:ln w="6350">
            <a:solidFill>
              <a:srgbClr val="B4530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539496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68680" y="5650992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inventtrans, inventdim, inventsum, inventlocation, inventbatch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63640" y="5303520"/>
            <a:ext cx="5440680" cy="868680"/>
          </a:xfrm>
          <a:prstGeom prst="roundRect">
            <a:avLst>
              <a:gd name="adj" fmla="val 8421"/>
            </a:avLst>
          </a:prstGeom>
          <a:solidFill>
            <a:srgbClr val="FEF3C7"/>
          </a:solidFill>
          <a:ln w="6350">
            <a:solidFill>
              <a:srgbClr val="B4530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539496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/ ENUM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46520" y="5650992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srsanalysisenums, globaloptionsetmetadata, currency, exchrates, hcmworker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6355080"/>
            <a:ext cx="11274552" cy="0"/>
          </a:xfrm>
          <a:prstGeom prst="line">
            <a:avLst/>
          </a:prstGeom>
          <a:noFill/>
          <a:ln w="9525">
            <a:solidFill>
              <a:srgbClr val="D8DD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64190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dive: layers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515600" y="6419088"/>
            <a:ext cx="1216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dive: layers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Silver — seven transformations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work. Everything else in your lakehouse depends on getting these seven right.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37744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DBEAFE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560320"/>
            <a:ext cx="457200" cy="4572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256032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 soft deletes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333756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IsDelete = 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20440" y="237744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DBEAFE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03320" y="2560320"/>
            <a:ext cx="457200" cy="4572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0332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297680" y="256032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Deduplicate on recid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703320" y="333756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max(versionnumber) per recid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55080" y="237744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DBEAFE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37960" y="2560320"/>
            <a:ext cx="457200" cy="4572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132320" y="256032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Reconstruct inherited tables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37960" y="333756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JOIN parent + children ON recid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89720" y="237744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DBEAFE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72600" y="2560320"/>
            <a:ext cx="457200" cy="4572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7260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966960" y="256032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Resolve enum labels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372600" y="333756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to srsanalysisenums for _label cols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5800" y="425196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DBEAFE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8680" y="4434840"/>
            <a:ext cx="457200" cy="4572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463040" y="443484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column names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68680" y="521208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LEVEL_ → level; drop Sink* columns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520440" y="425196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DBEAFE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703320" y="4434840"/>
            <a:ext cx="457200" cy="4572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0332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297680" y="443484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Cast data types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703320" y="521208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→ Timestamp / Decimal / Integer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355080" y="425196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DBEAFE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37960" y="4434840"/>
            <a:ext cx="457200" cy="4572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3796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132320" y="443484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Explode financial dimensions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537960" y="521208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Dim* hierarchy → named columns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" y="6355080"/>
            <a:ext cx="11274552" cy="0"/>
          </a:xfrm>
          <a:prstGeom prst="line">
            <a:avLst/>
          </a:prstGeom>
          <a:noFill/>
          <a:ln w="9525">
            <a:solidFill>
              <a:srgbClr val="D8DDE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64190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dive: layers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0515600" y="6419088"/>
            <a:ext cx="1216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common confusion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Silver is NOT an entity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Reconstructing an inherited table ≠ recreating an entity. They are different jobs.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468880"/>
            <a:ext cx="5394960" cy="3657600"/>
          </a:xfrm>
          <a:prstGeom prst="roundRect">
            <a:avLst>
              <a:gd name="adj" fmla="val 2500"/>
            </a:avLst>
          </a:prstGeom>
          <a:solidFill>
            <a:srgbClr val="142B4D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6517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INHERITED-TABLE JOIN → belongs in Silver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30175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silver_dirpartytable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37490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</a:rPr>
              <a:t>•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37490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a table to its OWN inheritance children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42062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</a:rPr>
              <a:t>•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42062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rows share the same recid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46634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</a:rPr>
              <a:t>•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46634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reassemble one D365 table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51206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</a:rPr>
              <a:t>•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51206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dirpartytable + companyinfo + dirperson + dirorganization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60120" y="5669280"/>
            <a:ext cx="4846320" cy="0"/>
          </a:xfrm>
          <a:prstGeom prst="line">
            <a:avLst/>
          </a:prstGeom>
          <a:noFill/>
          <a:ln w="6350">
            <a:solidFill>
              <a:srgbClr val="1D4ED8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960120" y="57607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 to EntityUtil Step 5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09360" y="2468880"/>
            <a:ext cx="5212080" cy="3657600"/>
          </a:xfrm>
          <a:prstGeom prst="roundRect">
            <a:avLst>
              <a:gd name="adj" fmla="val 2500"/>
            </a:avLst>
          </a:prstGeom>
          <a:solidFill>
            <a:srgbClr val="142B4D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26517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ENTITY-STYLE JOIN → belongs in Gold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0" y="30175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dim_customer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629400" y="37490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•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03720" y="37490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entirely DIFFERENT tables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629400" y="42062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•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03720" y="42062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recids, different domains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29400" y="46634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•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903720" y="46634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build a business dimension or fact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629400" y="51206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•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03720" y="51206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custtable + silver_dirpartytable + custgroup + address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583680" y="5669280"/>
            <a:ext cx="4663440" cy="0"/>
          </a:xfrm>
          <a:prstGeom prst="line">
            <a:avLst/>
          </a:prstGeom>
          <a:noFill/>
          <a:ln w="6350">
            <a:solidFill>
              <a:srgbClr val="10B981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6583680" y="57607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 to EntityUtil Step 2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6355080"/>
            <a:ext cx="11274552" cy="0"/>
          </a:xfrm>
          <a:prstGeom prst="line">
            <a:avLst/>
          </a:prstGeom>
          <a:noFill/>
          <a:ln w="9525">
            <a:solidFill>
              <a:srgbClr val="3A45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64190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dive: layers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515600" y="6419088"/>
            <a:ext cx="1216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dive: layers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 — dimensions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dimensions with surrogate keys. Each joins several Silver tables into one concept.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33172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D1FAE5"/>
          </a:solidFill>
          <a:ln w="6350">
            <a:solidFill>
              <a:srgbClr val="0478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5146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dim_customer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" y="2926080"/>
            <a:ext cx="548640" cy="0"/>
          </a:xfrm>
          <a:prstGeom prst="line">
            <a:avLst/>
          </a:prstGeom>
          <a:noFill/>
          <a:ln w="12700">
            <a:solidFill>
              <a:srgbClr val="0478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063240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custtable + dirpartytable + custgroup + address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520440" y="233172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D1FAE5"/>
          </a:solidFill>
          <a:ln w="6350">
            <a:solidFill>
              <a:srgbClr val="0478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03320" y="25146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dim_vendor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703320" y="2926080"/>
            <a:ext cx="548640" cy="0"/>
          </a:xfrm>
          <a:prstGeom prst="line">
            <a:avLst/>
          </a:prstGeom>
          <a:noFill/>
          <a:ln w="12700">
            <a:solidFill>
              <a:srgbClr val="0478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03320" y="3063240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vendtable + dirpartytable + vendgroup + address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355080" y="233172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D1FAE5"/>
          </a:solidFill>
          <a:ln w="6350">
            <a:solidFill>
              <a:srgbClr val="0478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25146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dim_product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537960" y="2926080"/>
            <a:ext cx="548640" cy="0"/>
          </a:xfrm>
          <a:prstGeom prst="line">
            <a:avLst/>
          </a:prstGeom>
          <a:noFill/>
          <a:ln w="12700">
            <a:solidFill>
              <a:srgbClr val="0478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3063240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ecoresproduct + inventtable + category + UoM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189720" y="233172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D1FAE5"/>
          </a:solidFill>
          <a:ln w="6350">
            <a:solidFill>
              <a:srgbClr val="0478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72600" y="25146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dim_date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372600" y="2926080"/>
            <a:ext cx="548640" cy="0"/>
          </a:xfrm>
          <a:prstGeom prst="line">
            <a:avLst/>
          </a:prstGeom>
          <a:noFill/>
          <a:ln w="12700">
            <a:solidFill>
              <a:srgbClr val="0478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72600" y="3063240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calendar + fiscalcalendar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5800" y="420624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D1FAE5"/>
          </a:solidFill>
          <a:ln w="6350">
            <a:solidFill>
              <a:srgbClr val="0478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3891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dim_legal_entity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68680" y="4800600"/>
            <a:ext cx="548640" cy="0"/>
          </a:xfrm>
          <a:prstGeom prst="line">
            <a:avLst/>
          </a:prstGeom>
          <a:noFill/>
          <a:ln w="12700">
            <a:solidFill>
              <a:srgbClr val="0478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4937760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dirpartytable filtered to CompanyInfo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520440" y="420624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D1FAE5"/>
          </a:solidFill>
          <a:ln w="6350">
            <a:solidFill>
              <a:srgbClr val="04785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03320" y="43891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dim_warehouse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703320" y="4800600"/>
            <a:ext cx="548640" cy="0"/>
          </a:xfrm>
          <a:prstGeom prst="line">
            <a:avLst/>
          </a:prstGeom>
          <a:noFill/>
          <a:ln w="12700">
            <a:solidFill>
              <a:srgbClr val="04785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03320" y="4937760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inventlocation + inventsite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355080" y="420624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D1FAE5"/>
          </a:solidFill>
          <a:ln w="6350">
            <a:solidFill>
              <a:srgbClr val="04785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37960" y="43891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dim_account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537960" y="4800600"/>
            <a:ext cx="548640" cy="0"/>
          </a:xfrm>
          <a:prstGeom prst="line">
            <a:avLst/>
          </a:prstGeom>
          <a:noFill/>
          <a:ln w="12700">
            <a:solidFill>
              <a:srgbClr val="04785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37960" y="4937760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mainaccount + exploded fin. dimensions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189720" y="420624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D1FAE5"/>
          </a:solidFill>
          <a:ln w="6350">
            <a:solidFill>
              <a:srgbClr val="04785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72600" y="43891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dim_worker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9372600" y="4800600"/>
            <a:ext cx="548640" cy="0"/>
          </a:xfrm>
          <a:prstGeom prst="line">
            <a:avLst/>
          </a:prstGeom>
          <a:noFill/>
          <a:ln w="12700">
            <a:solidFill>
              <a:srgbClr val="04785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372600" y="4937760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hcmworker + dirpartytable → DirPerson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6355080"/>
            <a:ext cx="11274552" cy="0"/>
          </a:xfrm>
          <a:prstGeom prst="line">
            <a:avLst/>
          </a:prstGeom>
          <a:noFill/>
          <a:ln w="9525">
            <a:solidFill>
              <a:srgbClr val="D8DDE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64190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dive: layers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515600" y="6419088"/>
            <a:ext cx="1216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dive: layers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 facts and OBTs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— grain: one transaction line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2286000"/>
            <a:ext cx="5486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28600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fact_sales_order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337560" y="228600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qty_ordered, line_amount, net_amount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2670048"/>
            <a:ext cx="5486400" cy="384048"/>
          </a:xfrm>
          <a:prstGeom prst="rect">
            <a:avLst/>
          </a:prstGeom>
          <a:solidFill>
            <a:srgbClr val="D1FAE5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7004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fact_sales_invoice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37560" y="267004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invoiced_qty, invoice_amount, tax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85800" y="3054096"/>
            <a:ext cx="5486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05409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fact_purchase_order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37560" y="3054096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qty_received, line_amount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5800" y="3438144"/>
            <a:ext cx="5486400" cy="384048"/>
          </a:xfrm>
          <a:prstGeom prst="rect">
            <a:avLst/>
          </a:prstGeom>
          <a:solidFill>
            <a:srgbClr val="D1FAE5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438144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fact_general_ledger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37560" y="343814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acct_curr_amount, rpt_curr_amount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5800" y="3822192"/>
            <a:ext cx="5486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82219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fact_customer_transactions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37560" y="382219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amount_mst, settlement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5800" y="4206240"/>
            <a:ext cx="5486400" cy="384048"/>
          </a:xfrm>
          <a:prstGeom prst="rect">
            <a:avLst/>
          </a:prstGeom>
          <a:solidFill>
            <a:srgbClr val="D1FAE5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20624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fact_vendor_transactions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37560" y="420624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amount_mst, amount_cur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5800" y="4590288"/>
            <a:ext cx="5486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459028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fact_inventory_transactions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37560" y="459028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qty, cost_amount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85800" y="4974336"/>
            <a:ext cx="5486400" cy="384048"/>
          </a:xfrm>
          <a:prstGeom prst="rect">
            <a:avLst/>
          </a:prstGeom>
          <a:solidFill>
            <a:srgbClr val="D1FAE5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497433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fact_inventory_onhand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37560" y="4974336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physical_qty, available_physical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0" y="1828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OBTs — wide, denormalised, per domain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0" y="2286000"/>
            <a:ext cx="5166360" cy="585216"/>
          </a:xfrm>
          <a:prstGeom prst="roundRect">
            <a:avLst>
              <a:gd name="adj" fmla="val 7813"/>
            </a:avLst>
          </a:prstGeom>
          <a:solidFill>
            <a:srgbClr val="FCE7F3"/>
          </a:solidFill>
          <a:ln w="6350">
            <a:solidFill>
              <a:srgbClr val="9D174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37960" y="23317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obt_sales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537960" y="257860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sales_order + sales_invoice + customer + product + date + warehouse + entity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400800" y="2916936"/>
            <a:ext cx="5166360" cy="585216"/>
          </a:xfrm>
          <a:prstGeom prst="roundRect">
            <a:avLst>
              <a:gd name="adj" fmla="val 7813"/>
            </a:avLst>
          </a:prstGeom>
          <a:solidFill>
            <a:srgbClr val="FCE7F3"/>
          </a:solidFill>
          <a:ln w="6350">
            <a:solidFill>
              <a:srgbClr val="9D174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37960" y="2962656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obt_procurement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537960" y="3209544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purchase_order + vendor + product + date + warehouse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400800" y="3547872"/>
            <a:ext cx="5166360" cy="585216"/>
          </a:xfrm>
          <a:prstGeom prst="roundRect">
            <a:avLst>
              <a:gd name="adj" fmla="val 7813"/>
            </a:avLst>
          </a:prstGeom>
          <a:solidFill>
            <a:srgbClr val="FCE7F3"/>
          </a:solidFill>
          <a:ln w="6350">
            <a:solidFill>
              <a:srgbClr val="9D174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37960" y="359359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obt_finance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537960" y="38404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general_ledger + account + date + legal_entity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400800" y="4178808"/>
            <a:ext cx="5166360" cy="585216"/>
          </a:xfrm>
          <a:prstGeom prst="roundRect">
            <a:avLst>
              <a:gd name="adj" fmla="val 7813"/>
            </a:avLst>
          </a:prstGeom>
          <a:solidFill>
            <a:srgbClr val="FCE7F3"/>
          </a:solidFill>
          <a:ln w="6350">
            <a:solidFill>
              <a:srgbClr val="9D174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37960" y="422452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obt_ar_aging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537960" y="4471416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customer_transactions + customer + date + aging buckets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00800" y="4809744"/>
            <a:ext cx="5166360" cy="585216"/>
          </a:xfrm>
          <a:prstGeom prst="roundRect">
            <a:avLst>
              <a:gd name="adj" fmla="val 7813"/>
            </a:avLst>
          </a:prstGeom>
          <a:solidFill>
            <a:srgbClr val="FCE7F3"/>
          </a:solidFill>
          <a:ln w="6350">
            <a:solidFill>
              <a:srgbClr val="9D174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4855464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obt_inventory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537960" y="510235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inventory_onhand + transactions + product + warehouse + date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57200" y="6355080"/>
            <a:ext cx="11274552" cy="0"/>
          </a:xfrm>
          <a:prstGeom prst="line">
            <a:avLst/>
          </a:prstGeom>
          <a:noFill/>
          <a:ln w="9525">
            <a:solidFill>
              <a:srgbClr val="D8DDE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64190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dive: layers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0515600" y="6419088"/>
            <a:ext cx="1216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dive: layers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vs Silver — a concrete example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DirPartyTable inheritance case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377440"/>
            <a:ext cx="5394960" cy="3749040"/>
          </a:xfrm>
          <a:prstGeom prst="roundRect">
            <a:avLst>
              <a:gd name="adj" fmla="val 2439"/>
            </a:avLst>
          </a:prstGeom>
          <a:solidFill>
            <a:srgbClr val="FEF3C7"/>
          </a:solidFill>
          <a:ln w="6350">
            <a:solidFill>
              <a:srgbClr val="B4530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5603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2880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Fragmented across 4 tables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60120" y="3429000"/>
            <a:ext cx="4846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4530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347472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dirpartytable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51560" y="370332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recid: 22565 · name: Contoso Ltd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60120" y="4023360"/>
            <a:ext cx="4846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4530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406908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companyinfo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51560" y="429768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recid: 22565 · dataarea: USMF · vatnum: 12-3456789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60120" y="4617720"/>
            <a:ext cx="4846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4530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466344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dirperson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51560" y="489204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recid: 22565 · firstname: NULL (not a person)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60120" y="5212080"/>
            <a:ext cx="4846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4530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525780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dirorganization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51560" y="548640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recid: 22565 · orgnumber: ORG-0042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60120" y="58521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Same recid, but data scattered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09360" y="2377440"/>
            <a:ext cx="5212080" cy="3749040"/>
          </a:xfrm>
          <a:prstGeom prst="roundRect">
            <a:avLst>
              <a:gd name="adj" fmla="val 2439"/>
            </a:avLst>
          </a:prstGeom>
          <a:solidFill>
            <a:srgbClr val="DBEAFE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256032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83680" y="28803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unified row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583680" y="3429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recid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046720" y="34290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22565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83680" y="375818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046720" y="375818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Contoso Ltd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83680" y="40873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dataarea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046720" y="408736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USMF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83680" y="44165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vatnum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046720" y="44165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12-3456789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583680" y="474573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orgnumber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046720" y="474573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ORG-0042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583680" y="5074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firstname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046720" y="50749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583680" y="58521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LEFT JOIN on recid — same logic as Step 5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6355080"/>
            <a:ext cx="11274552" cy="0"/>
          </a:xfrm>
          <a:prstGeom prst="line">
            <a:avLst/>
          </a:prstGeom>
          <a:noFill/>
          <a:ln w="9525">
            <a:solidFill>
              <a:srgbClr val="D8DDE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64190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dive: layers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515600" y="6419088"/>
            <a:ext cx="1216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NOT to do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common traps and why they fail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28600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EF2F2"/>
          </a:solidFill>
          <a:ln w="6350">
            <a:solidFill>
              <a:srgbClr val="B91C1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459736"/>
            <a:ext cx="438912" cy="438912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45973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237744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Recreating BYOD entities as Silver tables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0" y="2377440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join logic. Party attributes end up in three Silver tables at once — change once, break twice.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315468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EF2F2"/>
          </a:solidFill>
          <a:ln w="6350">
            <a:solidFill>
              <a:srgbClr val="B91C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328416"/>
            <a:ext cx="438912" cy="438912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32841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17320" y="324612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Scheduling the .ps1 scripts as a Databricks job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0" y="3246120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target Synapse or Fabric SQL. They don't write Delta. They don't run on Spark. Wrong tool for the job.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" y="402336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EF2F2"/>
          </a:solidFill>
          <a:ln w="6350">
            <a:solidFill>
              <a:srgbClr val="B91C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4197096"/>
            <a:ext cx="438912" cy="438912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19709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411480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Skipping get_derivetables.sql at the start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0" y="4114800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tables silently missing from Synapse Link. Every downstream layer will have gaps you cannot see.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" y="489204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EF2F2"/>
          </a:solidFill>
          <a:ln w="6350">
            <a:solidFill>
              <a:srgbClr val="B91C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5065776"/>
            <a:ext cx="438912" cy="438912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506577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17320" y="498348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Filtering IsDelete in Raw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0" y="4983480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Destroys the audit trail. A discovered business-rule error cannot be reprocessed from history.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5800" y="576072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EF2F2"/>
          </a:solidFill>
          <a:ln w="6350">
            <a:solidFill>
              <a:srgbClr val="B91C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" y="5934456"/>
            <a:ext cx="438912" cy="438912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593445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417320" y="585216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Connecting Power BI directly to Silver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0" y="5852160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authors reproduce entity joins in DAX. Push those joins into Gold or OBT once, not into every report forever.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6355080"/>
            <a:ext cx="11274552" cy="0"/>
          </a:xfrm>
          <a:prstGeom prst="line">
            <a:avLst/>
          </a:prstGeom>
          <a:noFill/>
          <a:ln w="9525">
            <a:solidFill>
              <a:srgbClr val="D8DD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64190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515600" y="6419088"/>
            <a:ext cx="1216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pipeline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phases from discovery to insights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37744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2F5FA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51460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737360" y="25603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737360" y="29260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get_derivetables.sql. Document inheritance.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434840" y="237744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2F5FA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251460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486400" y="25603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0" y="29260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run Step 1 for entity join blueprint.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183880" y="237744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2F5FA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66760" y="251460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9235440" y="25603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Provision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235440" y="29260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all base + child tables to Synapse Link.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5800" y="374904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2F5FA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88620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1737360" y="3931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737360" y="42976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Autoloader → Delta. No transformation.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434840" y="374904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2F5FA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388620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5486400" y="3931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Silver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0" y="42976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per domain. Apply the 7 transforms.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183880" y="374904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2F5FA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66760" y="388620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9235440" y="3931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 — Dims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235440" y="42976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Surrogate keys, SCD2 where relevant.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85800" y="512064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2F5FA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" y="525780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1737360" y="5303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 — Facts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737360" y="56692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lookups, measures, currency conversion.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434840" y="512064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2F5FA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17720" y="525780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3200" dirty="0"/>
          </a:p>
        </p:txBody>
      </p:sp>
      <p:sp>
        <p:nvSpPr>
          <p:cNvPr id="35" name="Text 33"/>
          <p:cNvSpPr/>
          <p:nvPr/>
        </p:nvSpPr>
        <p:spPr>
          <a:xfrm>
            <a:off x="5486400" y="5303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486400" y="56692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Materialise wide tables with Z-ORDER.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183880" y="512064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2F5FA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66760" y="525780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3200" dirty="0"/>
          </a:p>
        </p:txBody>
      </p:sp>
      <p:sp>
        <p:nvSpPr>
          <p:cNvPr id="39" name="Text 37"/>
          <p:cNvSpPr/>
          <p:nvPr/>
        </p:nvSpPr>
        <p:spPr>
          <a:xfrm>
            <a:off x="9235440" y="5303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9235440" y="56692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BI, ML pipelines, operational alerts.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6355080"/>
            <a:ext cx="11274552" cy="0"/>
          </a:xfrm>
          <a:prstGeom prst="line">
            <a:avLst/>
          </a:prstGeom>
          <a:noFill/>
          <a:ln w="9525">
            <a:solidFill>
              <a:srgbClr val="D8DDE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64190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0515600" y="6419088"/>
            <a:ext cx="1216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things to remember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85800" y="265176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828800" y="26517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scripts are Synapse Link tooling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828800" y="30175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exist to bridge BYOD → Synapse Link. None of them run in a lakehouse.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361188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828800" y="36118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Their real value to us is as a blueprint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828800" y="39776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get_derivetables.sql tells you which tables to add to Synapse Link. dependencies.json tells you which entity joins to reproduce in Spark.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457200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828800" y="45720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Silver ≠ Entity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828800" y="49377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makes each D365 table whole again. Gold joins many Silver tables into business shapes. Confusing them creates duplicated join logic.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553212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1828800" y="55321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OBT is where Power BI plugs in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828800" y="58978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Silver, not Gold. Pre-join at load time; keep reports thin.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6446520"/>
            <a:ext cx="457200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briefing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515600" y="6537960"/>
            <a:ext cx="1216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D365 F&amp;O Analytics — Executive Overview</dc:title>
  <dc:subject>PptxGenJS Presentation</dc:subject>
  <dc:creator>Data Architecture Team</dc:creator>
  <cp:lastModifiedBy>Data Architecture Team</cp:lastModifiedBy>
  <cp:revision>1</cp:revision>
  <dcterms:created xsi:type="dcterms:W3CDTF">2026-07-13T21:49:01Z</dcterms:created>
  <dcterms:modified xsi:type="dcterms:W3CDTF">2026-07-13T21:49:01Z</dcterms:modified>
</cp:coreProperties>
</file>