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hrs</c:v>
                </c:pt>
              </c:strCache>
            </c:strRef>
          </c:tx>
          <c:spPr>
            <a:solidFill>
              <a:srgbClr val="1A2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9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Simple (40%)</c:v>
                  </c:pt>
                  <c:pt idx="1">
                    <c:v>Medium (40%)</c:v>
                  </c:pt>
                  <c:pt idx="2">
                    <c:v>Complex (20%)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3000</c:v>
                </c:pt>
                <c:pt idx="1">
                  <c:v>7200</c:v>
                </c:pt>
                <c:pt idx="2">
                  <c:v>7200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AI (hrs)</c:v>
                </c:pt>
              </c:strCache>
            </c:strRef>
          </c:tx>
          <c:spPr>
            <a:solidFill>
              <a:srgbClr val="2B92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9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Simple (40%)</c:v>
                  </c:pt>
                  <c:pt idx="1">
                    <c:v>Medium (40%)</c:v>
                  </c:pt>
                  <c:pt idx="2">
                    <c:v>Complex (20%)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1300</c:v>
                </c:pt>
                <c:pt idx="1">
                  <c:v>4450</c:v>
                </c:pt>
                <c:pt idx="2">
                  <c:v>5500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9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v2</c:v>
                </c:pt>
              </c:strCache>
            </c:strRef>
          </c:tx>
          <c:spPr>
            <a:solidFill>
              <a:srgbClr val="7B82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9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Phase 1</c:v>
                  </c:pt>
                  <c:pt idx="1">
                    <c:v>Phase 2</c:v>
                  </c:pt>
                  <c:pt idx="2">
                    <c:v>Phase 3</c:v>
                  </c:pt>
                  <c:pt idx="3">
                    <c:v>Phase 4</c:v>
                  </c:pt>
                  <c:pt idx="4">
                    <c:v>Phase 5</c:v>
                  </c:pt>
                  <c:pt idx="5">
                    <c:v>Cross-cutting</c:v>
                  </c:pt>
                  <c:pt idx="6">
                    <c:v>Contingency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7500</c:v>
                </c:pt>
                <c:pt idx="1">
                  <c:v>5800</c:v>
                </c:pt>
                <c:pt idx="2">
                  <c:v>3700</c:v>
                </c:pt>
                <c:pt idx="3">
                  <c:v>1710</c:v>
                </c:pt>
                <c:pt idx="4">
                  <c:v>20550</c:v>
                </c:pt>
                <c:pt idx="5">
                  <c:v>3500</c:v>
                </c:pt>
                <c:pt idx="6">
                  <c:v>4276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Accelerators v3</c:v>
                </c:pt>
              </c:strCache>
            </c:strRef>
          </c:tx>
          <c:spPr>
            <a:solidFill>
              <a:srgbClr val="2B92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9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Phase 1</c:v>
                  </c:pt>
                  <c:pt idx="1">
                    <c:v>Phase 2</c:v>
                  </c:pt>
                  <c:pt idx="2">
                    <c:v>Phase 3</c:v>
                  </c:pt>
                  <c:pt idx="3">
                    <c:v>Phase 4</c:v>
                  </c:pt>
                  <c:pt idx="4">
                    <c:v>Phase 5</c:v>
                  </c:pt>
                  <c:pt idx="5">
                    <c:v>Cross-cutting</c:v>
                  </c:pt>
                  <c:pt idx="6">
                    <c:v>Contingency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6500</c:v>
                </c:pt>
                <c:pt idx="1">
                  <c:v>2200</c:v>
                </c:pt>
                <c:pt idx="2">
                  <c:v>2525</c:v>
                </c:pt>
                <c:pt idx="3">
                  <c:v>1120</c:v>
                </c:pt>
                <c:pt idx="4">
                  <c:v>12225</c:v>
                </c:pt>
                <c:pt idx="5">
                  <c:v>3000</c:v>
                </c:pt>
                <c:pt idx="6">
                  <c:v>2757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9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Peak headcount</c:v>
                </c:pt>
              </c:strCache>
            </c:strRef>
          </c:tx>
          <c:spPr>
            <a:solidFill>
              <a:srgbClr val="1A29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95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Solution/Data Architect</c:v>
                  </c:pt>
                  <c:pt idx="1">
                    <c:v>D365 F&amp;O Consultant</c:v>
                  </c:pt>
                  <c:pt idx="2">
                    <c:v>Project Manager</c:v>
                  </c:pt>
                  <c:pt idx="3">
                    <c:v>Business Analyst</c:v>
                  </c:pt>
                  <c:pt idx="4">
                    <c:v>QA / Data Tester</c:v>
                  </c:pt>
                  <c:pt idx="5">
                    <c:v>Senior Data Engineer</c:v>
                  </c:pt>
                  <c:pt idx="6">
                    <c:v>Data Engineer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5</c:v>
                </c:pt>
                <c:pt idx="6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95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AI (Baseline v2)</c:v>
                </c:pt>
              </c:strCache>
            </c:strRef>
          </c:tx>
          <c:spPr>
            <a:solidFill>
              <a:srgbClr val="8F939A"/>
            </a:solidFill>
            <a:ln w="31750" cap="flat">
              <a:solidFill>
                <a:srgbClr val="8F9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95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F939A"/>
              </a:solidFill>
              <a:ln w="9525" cap="flat">
                <a:solidFill>
                  <a:srgbClr val="8F9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M1</c:v>
                  </c:pt>
                  <c:pt idx="7">
                    <c:v>M2</c:v>
                  </c:pt>
                  <c:pt idx="8">
                    <c:v>M3</c:v>
                  </c:pt>
                  <c:pt idx="9">
                    <c:v>M4</c:v>
                  </c:pt>
                  <c:pt idx="10">
                    <c:v>M5</c:v>
                  </c:pt>
                  <c:pt idx="11">
                    <c:v>M6</c:v>
                  </c:pt>
                  <c:pt idx="12">
                    <c:v>M7</c:v>
                  </c:pt>
                  <c:pt idx="13">
                    <c:v>M8</c:v>
                  </c:pt>
                  <c:pt idx="14">
                    <c:v>M9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</c:v>
                </c:pt>
                <c:pt idx="1">
                  <c:v>37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23</c:v>
                </c:pt>
                <c:pt idx="6">
                  <c:v>23</c:v>
                </c:pt>
                <c:pt idx="7">
                  <c:v>28</c:v>
                </c:pt>
                <c:pt idx="8">
                  <c:v>31</c:v>
                </c:pt>
                <c:pt idx="9">
                  <c:v>35</c:v>
                </c:pt>
                <c:pt idx="10">
                  <c:v>43</c:v>
                </c:pt>
                <c:pt idx="11">
                  <c:v>45</c:v>
                </c:pt>
                <c:pt idx="12">
                  <c:v>42</c:v>
                </c:pt>
                <c:pt idx="13">
                  <c:v>35</c:v>
                </c:pt>
                <c:pt idx="14">
                  <c:v>21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AI + FastTrack (v3)</c:v>
                </c:pt>
              </c:strCache>
            </c:strRef>
          </c:tx>
          <c:spPr>
            <a:solidFill>
              <a:srgbClr val="2B9296"/>
            </a:solidFill>
            <a:ln w="31750" cap="flat">
              <a:solidFill>
                <a:srgbClr val="2B929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95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B9296"/>
              </a:solidFill>
              <a:ln w="9525" cap="flat">
                <a:solidFill>
                  <a:srgbClr val="2B929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M1</c:v>
                  </c:pt>
                  <c:pt idx="7">
                    <c:v>M2</c:v>
                  </c:pt>
                  <c:pt idx="8">
                    <c:v>M3</c:v>
                  </c:pt>
                  <c:pt idx="9">
                    <c:v>M4</c:v>
                  </c:pt>
                  <c:pt idx="10">
                    <c:v>M5</c:v>
                  </c:pt>
                  <c:pt idx="11">
                    <c:v>M6</c:v>
                  </c:pt>
                  <c:pt idx="12">
                    <c:v>M7</c:v>
                  </c:pt>
                  <c:pt idx="13">
                    <c:v>M8</c:v>
                  </c:pt>
                  <c:pt idx="14">
                    <c:v>M9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20</c:v>
                </c:pt>
                <c:pt idx="1">
                  <c:v>32</c:v>
                </c:pt>
                <c:pt idx="2">
                  <c:v>32</c:v>
                </c:pt>
                <c:pt idx="3">
                  <c:v>32</c:v>
                </c:pt>
                <c:pt idx="4">
                  <c:v>32</c:v>
                </c:pt>
                <c:pt idx="5">
                  <c:v>20</c:v>
                </c:pt>
                <c:pt idx="6">
                  <c:v>18</c:v>
                </c:pt>
                <c:pt idx="7">
                  <c:v>22</c:v>
                </c:pt>
                <c:pt idx="8">
                  <c:v>23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27</c:v>
                </c:pt>
                <c:pt idx="13">
                  <c:v>20</c:v>
                </c:pt>
                <c:pt idx="14">
                  <c:v>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95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5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0"/>
            <a:ext cx="731520" cy="6858000"/>
          </a:xfrm>
          <a:prstGeom prst="rect">
            <a:avLst/>
          </a:prstGeom>
          <a:solidFill>
            <a:srgbClr val="12203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PROGRAM PROPOSAL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Migration Delivery Plan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8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Resource, effort &amp; schedule estimate — accelerator-adjusted for Phases 1 through 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1371600" cy="54864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937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PLATFORM &amp; ACCELERATORS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5212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Azure Databricks · ADLS Gen2 · Unity Catalog · Delta Lake · Lakeflow Connect D365 · FastTrack · AI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weeks (Phase 1)  +  9 months (Phases 2–5)  ·  ~10.5 months total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41280" y="6172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v3.0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0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· 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program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830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Migrating from AX 2012 to D365 F&amp;O analytics on Azure Databricks, using the medallion architecture with three accelerators applied: the Databricks D365 connector for Bronze automation, Microsoft FastTrack patterns for Silver, and an AI agent for code generation across Phases 2–5. Delivers 12,000 business insights in a fixed 9-month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~30k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person-hours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range 29.2k–31.5k · v2 was 47k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37560" y="27889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2044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Person-months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range 192–207 · v2 was 310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27889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0080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Peak team size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range 26–29 · v2 was 45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98280" y="2788920"/>
            <a:ext cx="2697480" cy="1508760"/>
          </a:xfrm>
          <a:prstGeom prst="roundRect">
            <a:avLst>
              <a:gd name="adj" fmla="val 4848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880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10.5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28116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Total months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81160" y="39136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timeline unchanged from v2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11247120" cy="1691640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617720"/>
            <a:ext cx="91440" cy="1691640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09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DOMINANT WORKSTREAM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9834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5 — Business Insight Implementation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Represents ~40% of accelerator-adjusted program effort (11,650–12,800 hours). Delivery of 12,000 insights over ~5 months of active development requires ~130 insights/day — now achievable with 9–11 data engineers (down from 20) via AI-assisted pattern-based development. Phase 1 (upstream) sets the input quality for AI leverage; questionnaire quality is the gate.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· SOLUTION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Databricks medallion with accelerators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920240"/>
            <a:ext cx="1417320" cy="658368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221284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F&amp;O Source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20240" y="1920240"/>
            <a:ext cx="5852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96596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Source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224028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Managed by separate team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2404872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Synapse Link exports F&amp;O data to ADLS Gen2 (CDM changelog format)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1417320" cy="658368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157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2A · ACCELERATED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920240" y="2670048"/>
            <a:ext cx="5852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2715768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 / Raw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29900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Databricks D365 Connector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315468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Auto-discovers schema, creates streaming tables, handles CDC. Eliminates most Bronze engineering.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419856"/>
            <a:ext cx="1417320" cy="658368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655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" y="37124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Layer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920240" y="3419856"/>
            <a:ext cx="5852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346557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 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3739896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FastTrack patterns + AI code gen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57400" y="3904488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Enum decode, GUID resolve, dedup, SCD, DQ — ported from FastTrack CDMUtil to Databricks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169664"/>
            <a:ext cx="1417320" cy="658368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2153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44622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Dimensional Model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920240" y="4169664"/>
            <a:ext cx="5852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4215384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— Dimensional Model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57400" y="4489704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Kimball star schema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57400" y="4654296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~50 dimensions · ~30 facts · surrogate keys · SCD 1/2 · liquid clustering — AI-scaffolded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919472"/>
            <a:ext cx="1417320" cy="658368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49651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" y="52120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Tables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920240" y="4919472"/>
            <a:ext cx="5852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4965192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 — One Big Tables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057400" y="5239512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Denormalized analytical layer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57400" y="5404104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~30 OBTs · Photon-optimized · incremental MERGE · AI join scaffolding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5669280"/>
            <a:ext cx="1417320" cy="658368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57150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596188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Layer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920240" y="5669280"/>
            <a:ext cx="5852160" cy="658368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57400" y="5715000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Layer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057400" y="5989320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12,000 business insights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57400" y="6153912"/>
            <a:ext cx="5623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AI-generated SQL/PySpark, Phase 1 questionnaires as spec. Consumed by Power BI (out of scope).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0924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GOVERNANCE &amp; ACCELERATORS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92440" y="2240280"/>
            <a:ext cx="91440" cy="54864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0" y="2240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229600" y="2514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Central governance, lineage, column-level security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92440" y="2880360"/>
            <a:ext cx="91440" cy="54864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0" y="2880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Delta Live Tables + Workflows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229600" y="3154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Orchestration with retries, alerting, lineage capture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92440" y="3520440"/>
            <a:ext cx="91440" cy="548640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0" y="35204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FastTrack CDM patterns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229600" y="37947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Enum, sub-table, view-syntax, mserp_ prefix handling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092440" y="4160520"/>
            <a:ext cx="91440" cy="548640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41605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Development Agent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229600" y="4434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 gen: DDL, PySpark, SCD, DQ, tests, docs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92440" y="4800600"/>
            <a:ext cx="91440" cy="548640"/>
          </a:xfrm>
          <a:prstGeom prst="rect">
            <a:avLst/>
          </a:prstGeom>
          <a:solidFill>
            <a:srgbClr val="6E4CA0"/>
          </a:solidFill>
          <a:ln/>
        </p:spPr>
      </p:sp>
      <p:sp>
        <p:nvSpPr>
          <p:cNvPr id="61" name="Text 59"/>
          <p:cNvSpPr/>
          <p:nvPr/>
        </p:nvSpPr>
        <p:spPr>
          <a:xfrm>
            <a:off x="8229600" y="48006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Databricks Asset Bundles + Azure DevOps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229600" y="5074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CI/CD across all layers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092440" y="5440680"/>
            <a:ext cx="91440" cy="548640"/>
          </a:xfrm>
          <a:prstGeom prst="rect">
            <a:avLst/>
          </a:prstGeom>
          <a:solidFill>
            <a:srgbClr val="6E4CA0"/>
          </a:solidFill>
          <a:ln/>
        </p:spPr>
      </p:sp>
      <p:sp>
        <p:nvSpPr>
          <p:cNvPr id="64" name="Text 62"/>
          <p:cNvSpPr/>
          <p:nvPr/>
        </p:nvSpPr>
        <p:spPr>
          <a:xfrm>
            <a:off x="8229600" y="54406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Schema-Drift Monitoring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229600" y="57150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Connector does not auto-evolve schema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· SCOPE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building (unchanged from v2)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745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D365 F&amp;O entities to ingest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 · AP · AR · FA · Inventory · Procurement · Sales · Production · Budget · HR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8745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52628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Dimension tables (Gold)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Customer · Vendor · Item · Account · Date · Legal Entity · Cost Center · Site · Warehouse · Worker · +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0116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3667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Fact tables (Gold)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 journal · AP · AR · POs · SOs · inventory · production · budget · fixed assets · +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86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58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Big Tables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846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primary OBT per analytical domain, plus supporting variants for specialized workloads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886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12,000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452628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insights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26280" y="4846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750 reports × 4 pages × 4 insights per page. Documented via 24-question questionnaires (already reviewed).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3749040"/>
            <a:ext cx="3657600" cy="1691640"/>
          </a:xfrm>
          <a:prstGeom prst="roundRect">
            <a:avLst>
              <a:gd name="adj" fmla="val 4324"/>
            </a:avLst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886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36676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domains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66760" y="4846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Finance · AP · AR · FA · Inventory · Procurement · Sales · Production · HR · Cross-functional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5852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99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action: 2-week discovery spike in Weeks 1–2 to validate these counts before final staffing commitments.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· PHASE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 Review — 6-week precursor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291840" cy="4572000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 EFFORT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6,300–6,700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822960" cy="36576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900–957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Person-days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41–44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4754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Person-months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5074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Engineer-reviewers required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6035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Weeks 1–6 (pre-implementation)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23360" y="2286000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219456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Read and understand each business insight in its report context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2606040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251460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 all 24 responses per questionnaire for completeness and clarity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2926080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28346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Identify missing, ambiguous, or conflicting information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3246120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315468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Schedule and conduct clarification discussions with business users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3566160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347472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Update questionnaires and mark ready for technical analysis (Phase 2)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4023360"/>
            <a:ext cx="7818120" cy="228600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ESTIMATION MODEL (REALISTIC, AI-ASSISTED)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519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 review time (with AI duplicate &amp; completeness check)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45262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 min per insight questionnaire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5196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Discussion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0" y="49377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22% of insights require a business-user discussion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51960" y="5349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Discussion duration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589520" y="53492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min per discussion (avg. incl. scheduling &amp; write-up)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51960" y="5760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Effective time / insight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89520" y="57607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31.6 min → 12,000 × 31.6 min = 6,300–6,700 hours total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· PHASE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Raw &amp; Silver — ingestion and standardization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291840" cy="4572000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 EFFORT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1,990–2,410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822960" cy="36576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58–66%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effort reduction vs baseline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284–344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50017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Person-days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13–16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5504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Person-months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11–13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6007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size at phase peak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6217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Months 1–4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023360" y="2286000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2194560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Configure D365 connector against ADLS Gen2 (Synapse Link output)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2578608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2487168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Discover entities via AX 2012 SQL view analysis (AI-assisted)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2871216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5" name="Text 23"/>
          <p:cNvSpPr/>
          <p:nvPr/>
        </p:nvSpPr>
        <p:spPr>
          <a:xfrm>
            <a:off x="4251960" y="2779776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Bronze layer: auto-created streaming tables by Lakeflow Connect connector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23360" y="3163824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3072384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Silver layer: cleansing, decoding, SCD, DQ — FastTrack patterns + AI code gen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023360" y="3456432"/>
            <a:ext cx="91440" cy="91440"/>
          </a:xfrm>
          <a:prstGeom prst="ellipse">
            <a:avLst/>
          </a:prstGeom>
          <a:solidFill>
            <a:srgbClr val="2B9296"/>
          </a:solidFill>
          <a:ln/>
        </p:spPr>
      </p:sp>
      <p:sp>
        <p:nvSpPr>
          <p:cNvPr id="29" name="Text 27"/>
          <p:cNvSpPr/>
          <p:nvPr/>
        </p:nvSpPr>
        <p:spPr>
          <a:xfrm>
            <a:off x="4251960" y="3364992"/>
            <a:ext cx="7543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 row counts and business-key reconciliation vs. AX 2012 source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0" y="3886200"/>
            <a:ext cx="7818120" cy="242316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5196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ACCELERATOR IMPACT — WHERE THE SAVINGS COME FROM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51960" y="4389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D365 Connector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38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Auto-creates Bronze streaming tables from ADLS Gen2 — eliminates ~250 hrs of custom ingestion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51960" y="4846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FastTrack patterns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46520" y="4846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Enum decode, sub-table, mserp_ prefix, view syntax — ported to Databricks in Silver framework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251960" y="5303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code generation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46520" y="53035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Per-entity Silver transformations, SCD merge, DQ rules — from ~10 hrs/entity to ~4 hrs/entity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51960" y="5760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Retained work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5760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250-tables-per-pipeline limit; schema-drift monitoring; option-set decoding still required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· PHASE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Dimensional Model — the enterprise Gold layer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291840" cy="4572000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 EFFORT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2,450–2,600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822960" cy="36576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30–34%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effort reduction vs baseline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350–371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50017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Person-days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16–17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5504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Person-months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13–14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6007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size at phase peak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6217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Months 2–5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deliverables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2336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02336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domains modelled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 matrix, conformed dimensions, grain definitions per domain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7512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67512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SCD Type 1 &amp; 2, surrogate keys, conformed across facts — AI-generated scaffolding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26880" y="224028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932688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Facts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Explicit grain, defined measures, business rules verified — senior review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23360" y="4023360"/>
            <a:ext cx="7818120" cy="228600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APPROACH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51960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Kimball methodology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44805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Enterprise bus matrix drives conformed dimensions across domains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251960" y="4892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FastTrack-informed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20840" y="489204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F&amp;O CDM metadata + Entity Store aggregate patterns accelerate design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51960" y="5303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AI-generated scaffolding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20840" y="530352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Dim/fact DDL, SCD merge logic, unit tests, referential integrity checks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51960" y="5715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Iterative by domain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720840" y="57150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Domain-oriented waves overlap with Phase 2 tail (starting Month 2)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· PHASE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Big Tables — analytics-optimized denormalization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291840" cy="4572000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 EFFORT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1,120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822960" cy="36576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effort reduction vs baseline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50017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Person-days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5212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" y="5504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Person-months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5715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7–8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60076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Team size at phase peak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6217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Months 4–6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2336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consumption layer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023360" y="22860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~30 OBTs denormalize the Gold dimensional model into wide analytical tables. One primary OBT per business domain plus supporting variants. AI-scaffolded, senior-reviewed — a Phase 4 error propagates to hundreds of Phase 5 insights.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23360" y="3246120"/>
            <a:ext cx="73152" cy="5029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60520" y="3520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Grain, dim/fact selection, calculated columns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42416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220 hrs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023360" y="3840480"/>
            <a:ext cx="73152" cy="5029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41148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Join logic, denormalization, MERGE refresh — AI-scaffolded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42416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540 hrs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023360" y="4434840"/>
            <a:ext cx="73152" cy="5029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30" name="Text 28"/>
          <p:cNvSpPr/>
          <p:nvPr/>
        </p:nvSpPr>
        <p:spPr>
          <a:xfrm>
            <a:off x="41605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60520" y="47091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Liquid clustering, Photon, caching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424160" y="4480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 hrs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023360" y="5029200"/>
            <a:ext cx="73152" cy="5029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34" name="Text 32"/>
          <p:cNvSpPr/>
          <p:nvPr/>
        </p:nvSpPr>
        <p:spPr>
          <a:xfrm>
            <a:off x="416052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53035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rule verification, reconciliation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424160" y="5074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 hrs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023360" y="5623560"/>
            <a:ext cx="73152" cy="5029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38" name="Text 36"/>
          <p:cNvSpPr/>
          <p:nvPr/>
        </p:nvSpPr>
        <p:spPr>
          <a:xfrm>
            <a:off x="4160520" y="5623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60520" y="589788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Unity Catalog metadata, lineage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424160" y="5669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hrs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· PHASE 5  ·  DOMINANT WORKSTREAM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Insight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3291840" cy="4572000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5 EFFORT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11,650–12,800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person-hours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20440"/>
            <a:ext cx="822960" cy="36576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6576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B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of total program effort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709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~130 / day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50749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Required insight throughput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~7–8 / eng-day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5806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Blended throughput (AI-assisted)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62179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Months 5–9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Complexity mix across 12,000 insights — 38–43% reduction with AI</a:t>
            </a:r>
            <a:endParaRPr 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023360" y="2286000"/>
          <a:ext cx="77724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4023360" y="4526280"/>
            <a:ext cx="7818120" cy="182880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5196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EFFORT BREAKDOWN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251960" y="49377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Adjusted development (with AI + 25% reuse)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212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6,550–7,250 hrs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51960" y="5257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Unit testing &amp; validation (AI-generated tests)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921240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1,700–1,800 hrs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251960" y="55778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UAT support &amp; rework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2124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2,400–2,550 hrs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251960" y="58978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Preparation, docs &amp; AI agent priming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921240" y="5897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1,000–1,200 hrs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· TOTAL EFFORT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totals and scenario sensitivity (v3)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 by phase (person-hours)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24028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13232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planning (v3)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32320" y="2240280"/>
            <a:ext cx="4754880" cy="1280160"/>
          </a:xfrm>
          <a:prstGeom prst="rect">
            <a:avLst/>
          </a:prstGeom>
          <a:solidFill>
            <a:srgbClr val="EAF7F4"/>
          </a:solidFill>
          <a:ln w="9525">
            <a:solidFill>
              <a:srgbClr val="2B92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OPTIMISTIC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26,000 hrs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966960" y="2606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 peak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 avg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3108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 questionnaire quality; high AI priming; strong FastTrack fit; standard F&amp;O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132320" y="3657600"/>
            <a:ext cx="4754880" cy="1280160"/>
          </a:xfrm>
          <a:prstGeom prst="rect">
            <a:avLst/>
          </a:prstGeom>
          <a:solidFill>
            <a:srgbClr val="FEF6E3"/>
          </a:solidFill>
          <a:ln w="9525">
            <a:solidFill>
              <a:srgbClr val="D99B2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REALISTIC · RECOMMENDED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31520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29,200–31,500 hrs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966960" y="40233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29–32 peak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22 avg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15200" y="4526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Moderate questionnaire quality; adequate AI priming; typical FastTrack fit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132320" y="5074920"/>
            <a:ext cx="4754880" cy="1280160"/>
          </a:xfrm>
          <a:prstGeom prst="rect">
            <a:avLst/>
          </a:prstGeom>
          <a:solidFill>
            <a:srgbClr val="FBEAEA"/>
          </a:solidFill>
          <a:ln w="9525">
            <a:solidFill>
              <a:srgbClr val="C0555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0555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CONSERVATIVE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40,000 hrs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966960" y="5440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40 peak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 avg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15200" y="5943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Questionnaire issues; weak AI priming; heavy client customisation outside FastTrack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· TEAM COMPOSITION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and headcount at peak (28 FTEs, v3)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68580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920240"/>
            <a:ext cx="137160" cy="960120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7" name="Shape 4"/>
          <p:cNvSpPr/>
          <p:nvPr/>
        </p:nvSpPr>
        <p:spPr>
          <a:xfrm>
            <a:off x="7726680" y="1920240"/>
            <a:ext cx="4160520" cy="96012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205740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73252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DELIVERY CORE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732520" y="23042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Engineers, testers, and BAs building the platform and insights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89520" y="3017520"/>
            <a:ext cx="137160" cy="9601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12" name="Shape 9"/>
          <p:cNvSpPr/>
          <p:nvPr/>
        </p:nvSpPr>
        <p:spPr>
          <a:xfrm>
            <a:off x="7726680" y="3017520"/>
            <a:ext cx="4160520" cy="96012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0" y="315468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92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732520" y="31546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32520" y="34015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Solution and data architects setting patterns and standards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589520" y="4114800"/>
            <a:ext cx="137160" cy="960120"/>
          </a:xfrm>
          <a:prstGeom prst="rect">
            <a:avLst/>
          </a:prstGeom>
          <a:solidFill>
            <a:srgbClr val="8A7B2B"/>
          </a:solidFill>
          <a:ln/>
        </p:spPr>
      </p:sp>
      <p:sp>
        <p:nvSpPr>
          <p:cNvPr id="17" name="Shape 14"/>
          <p:cNvSpPr/>
          <p:nvPr/>
        </p:nvSpPr>
        <p:spPr>
          <a:xfrm>
            <a:off x="7726680" y="4114800"/>
            <a:ext cx="4160520" cy="96012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63840" y="425196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A7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8732520" y="4251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7B2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732520" y="44988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leadership and delivery coordination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589520" y="5212080"/>
            <a:ext cx="137160" cy="960120"/>
          </a:xfrm>
          <a:prstGeom prst="rect">
            <a:avLst/>
          </a:prstGeom>
          <a:solidFill>
            <a:srgbClr val="6E4CA0"/>
          </a:solidFill>
          <a:ln/>
        </p:spPr>
      </p:sp>
      <p:sp>
        <p:nvSpPr>
          <p:cNvPr id="22" name="Shape 19"/>
          <p:cNvSpPr/>
          <p:nvPr/>
        </p:nvSpPr>
        <p:spPr>
          <a:xfrm>
            <a:off x="7726680" y="5212080"/>
            <a:ext cx="4160520" cy="96012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63840" y="5349240"/>
            <a:ext cx="822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4C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8732520" y="5349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4CA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SPECIALISTS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732520" y="55961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D365 F&amp;O functional consultants bridging AX-to-D365 knowledge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· SCHEDULE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(6 weeks) then Phases 2–5 (9 months)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Text 3"/>
          <p:cNvSpPr/>
          <p:nvPr/>
        </p:nvSpPr>
        <p:spPr>
          <a:xfrm>
            <a:off x="2651760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Wk 1–6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47872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43984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40096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36208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28432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24544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20656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16768" y="1874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 — Insight Review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3547872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4443984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340096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6208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0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8028432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3" name="Shape 21"/>
          <p:cNvSpPr/>
          <p:nvPr/>
        </p:nvSpPr>
        <p:spPr>
          <a:xfrm>
            <a:off x="8924544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4" name="Shape 22"/>
          <p:cNvSpPr/>
          <p:nvPr/>
        </p:nvSpPr>
        <p:spPr>
          <a:xfrm>
            <a:off x="9820656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16768" y="2359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6" name="Shape 24"/>
          <p:cNvSpPr/>
          <p:nvPr/>
        </p:nvSpPr>
        <p:spPr>
          <a:xfrm>
            <a:off x="2670048" y="2359152"/>
            <a:ext cx="841248" cy="256032"/>
          </a:xfrm>
          <a:prstGeom prst="rect">
            <a:avLst/>
          </a:prstGeom>
          <a:solidFill>
            <a:srgbClr val="5FB0B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743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2 — Raw &amp; Silver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29" name="Shape 27"/>
          <p:cNvSpPr/>
          <p:nvPr/>
        </p:nvSpPr>
        <p:spPr>
          <a:xfrm>
            <a:off x="3547872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443984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1" name="Shape 29"/>
          <p:cNvSpPr/>
          <p:nvPr/>
        </p:nvSpPr>
        <p:spPr>
          <a:xfrm>
            <a:off x="5340096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2" name="Shape 30"/>
          <p:cNvSpPr/>
          <p:nvPr/>
        </p:nvSpPr>
        <p:spPr>
          <a:xfrm>
            <a:off x="6236208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0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4" name="Shape 32"/>
          <p:cNvSpPr/>
          <p:nvPr/>
        </p:nvSpPr>
        <p:spPr>
          <a:xfrm>
            <a:off x="8028432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5" name="Shape 33"/>
          <p:cNvSpPr/>
          <p:nvPr/>
        </p:nvSpPr>
        <p:spPr>
          <a:xfrm>
            <a:off x="8924544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6" name="Shape 34"/>
          <p:cNvSpPr/>
          <p:nvPr/>
        </p:nvSpPr>
        <p:spPr>
          <a:xfrm>
            <a:off x="9820656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16768" y="28163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38" name="Shape 36"/>
          <p:cNvSpPr/>
          <p:nvPr/>
        </p:nvSpPr>
        <p:spPr>
          <a:xfrm>
            <a:off x="3566160" y="2816352"/>
            <a:ext cx="3529584" cy="256032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200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3 — Dimensional Model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51760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1" name="Shape 39"/>
          <p:cNvSpPr/>
          <p:nvPr/>
        </p:nvSpPr>
        <p:spPr>
          <a:xfrm>
            <a:off x="3547872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2" name="Shape 40"/>
          <p:cNvSpPr/>
          <p:nvPr/>
        </p:nvSpPr>
        <p:spPr>
          <a:xfrm>
            <a:off x="4443984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3" name="Shape 41"/>
          <p:cNvSpPr/>
          <p:nvPr/>
        </p:nvSpPr>
        <p:spPr>
          <a:xfrm>
            <a:off x="5340096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4" name="Shape 42"/>
          <p:cNvSpPr/>
          <p:nvPr/>
        </p:nvSpPr>
        <p:spPr>
          <a:xfrm>
            <a:off x="6236208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5" name="Shape 43"/>
          <p:cNvSpPr/>
          <p:nvPr/>
        </p:nvSpPr>
        <p:spPr>
          <a:xfrm>
            <a:off x="7132320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6" name="Shape 44"/>
          <p:cNvSpPr/>
          <p:nvPr/>
        </p:nvSpPr>
        <p:spPr>
          <a:xfrm>
            <a:off x="8028432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7" name="Shape 45"/>
          <p:cNvSpPr/>
          <p:nvPr/>
        </p:nvSpPr>
        <p:spPr>
          <a:xfrm>
            <a:off x="8924544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8" name="Shape 46"/>
          <p:cNvSpPr/>
          <p:nvPr/>
        </p:nvSpPr>
        <p:spPr>
          <a:xfrm>
            <a:off x="9820656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49" name="Shape 47"/>
          <p:cNvSpPr/>
          <p:nvPr/>
        </p:nvSpPr>
        <p:spPr>
          <a:xfrm>
            <a:off x="10716768" y="32735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50" name="Shape 48"/>
          <p:cNvSpPr/>
          <p:nvPr/>
        </p:nvSpPr>
        <p:spPr>
          <a:xfrm>
            <a:off x="4462272" y="3273552"/>
            <a:ext cx="3529584" cy="256032"/>
          </a:xfrm>
          <a:prstGeom prst="rect">
            <a:avLst/>
          </a:prstGeom>
          <a:solidFill>
            <a:srgbClr val="1A2954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4 — OBT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53" name="Shape 51"/>
          <p:cNvSpPr/>
          <p:nvPr/>
        </p:nvSpPr>
        <p:spPr>
          <a:xfrm>
            <a:off x="3547872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54" name="Shape 52"/>
          <p:cNvSpPr/>
          <p:nvPr/>
        </p:nvSpPr>
        <p:spPr>
          <a:xfrm>
            <a:off x="4443984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55" name="Shape 53"/>
          <p:cNvSpPr/>
          <p:nvPr/>
        </p:nvSpPr>
        <p:spPr>
          <a:xfrm>
            <a:off x="5340096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56" name="Shape 54"/>
          <p:cNvSpPr/>
          <p:nvPr/>
        </p:nvSpPr>
        <p:spPr>
          <a:xfrm>
            <a:off x="6236208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57" name="Shape 55"/>
          <p:cNvSpPr/>
          <p:nvPr/>
        </p:nvSpPr>
        <p:spPr>
          <a:xfrm>
            <a:off x="7132320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58" name="Shape 56"/>
          <p:cNvSpPr/>
          <p:nvPr/>
        </p:nvSpPr>
        <p:spPr>
          <a:xfrm>
            <a:off x="8028432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59" name="Shape 57"/>
          <p:cNvSpPr/>
          <p:nvPr/>
        </p:nvSpPr>
        <p:spPr>
          <a:xfrm>
            <a:off x="8924544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60" name="Shape 58"/>
          <p:cNvSpPr/>
          <p:nvPr/>
        </p:nvSpPr>
        <p:spPr>
          <a:xfrm>
            <a:off x="9820656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61" name="Shape 59"/>
          <p:cNvSpPr/>
          <p:nvPr/>
        </p:nvSpPr>
        <p:spPr>
          <a:xfrm>
            <a:off x="10716768" y="37307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62" name="Shape 60"/>
          <p:cNvSpPr/>
          <p:nvPr/>
        </p:nvSpPr>
        <p:spPr>
          <a:xfrm>
            <a:off x="6254496" y="3730752"/>
            <a:ext cx="2633472" cy="256032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5 — Insight Dev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651760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65" name="Shape 63"/>
          <p:cNvSpPr/>
          <p:nvPr/>
        </p:nvSpPr>
        <p:spPr>
          <a:xfrm>
            <a:off x="3547872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66" name="Shape 64"/>
          <p:cNvSpPr/>
          <p:nvPr/>
        </p:nvSpPr>
        <p:spPr>
          <a:xfrm>
            <a:off x="4443984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67" name="Shape 65"/>
          <p:cNvSpPr/>
          <p:nvPr/>
        </p:nvSpPr>
        <p:spPr>
          <a:xfrm>
            <a:off x="5340096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68" name="Shape 66"/>
          <p:cNvSpPr/>
          <p:nvPr/>
        </p:nvSpPr>
        <p:spPr>
          <a:xfrm>
            <a:off x="6236208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69" name="Shape 67"/>
          <p:cNvSpPr/>
          <p:nvPr/>
        </p:nvSpPr>
        <p:spPr>
          <a:xfrm>
            <a:off x="7132320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70" name="Shape 68"/>
          <p:cNvSpPr/>
          <p:nvPr/>
        </p:nvSpPr>
        <p:spPr>
          <a:xfrm>
            <a:off x="8028432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71" name="Shape 69"/>
          <p:cNvSpPr/>
          <p:nvPr/>
        </p:nvSpPr>
        <p:spPr>
          <a:xfrm>
            <a:off x="8924544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72" name="Shape 70"/>
          <p:cNvSpPr/>
          <p:nvPr/>
        </p:nvSpPr>
        <p:spPr>
          <a:xfrm>
            <a:off x="9820656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16768" y="41879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74" name="Shape 72"/>
          <p:cNvSpPr/>
          <p:nvPr/>
        </p:nvSpPr>
        <p:spPr>
          <a:xfrm>
            <a:off x="7150608" y="4187952"/>
            <a:ext cx="3529584" cy="256032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5 — UAT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651760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77" name="Shape 75"/>
          <p:cNvSpPr/>
          <p:nvPr/>
        </p:nvSpPr>
        <p:spPr>
          <a:xfrm>
            <a:off x="3547872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78" name="Shape 76"/>
          <p:cNvSpPr/>
          <p:nvPr/>
        </p:nvSpPr>
        <p:spPr>
          <a:xfrm>
            <a:off x="4443984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79" name="Shape 77"/>
          <p:cNvSpPr/>
          <p:nvPr/>
        </p:nvSpPr>
        <p:spPr>
          <a:xfrm>
            <a:off x="5340096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80" name="Shape 78"/>
          <p:cNvSpPr/>
          <p:nvPr/>
        </p:nvSpPr>
        <p:spPr>
          <a:xfrm>
            <a:off x="6236208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81" name="Shape 79"/>
          <p:cNvSpPr/>
          <p:nvPr/>
        </p:nvSpPr>
        <p:spPr>
          <a:xfrm>
            <a:off x="7132320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82" name="Shape 80"/>
          <p:cNvSpPr/>
          <p:nvPr/>
        </p:nvSpPr>
        <p:spPr>
          <a:xfrm>
            <a:off x="8028432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83" name="Shape 81"/>
          <p:cNvSpPr/>
          <p:nvPr/>
        </p:nvSpPr>
        <p:spPr>
          <a:xfrm>
            <a:off x="8924544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84" name="Shape 82"/>
          <p:cNvSpPr/>
          <p:nvPr/>
        </p:nvSpPr>
        <p:spPr>
          <a:xfrm>
            <a:off x="9820656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85" name="Shape 83"/>
          <p:cNvSpPr/>
          <p:nvPr/>
        </p:nvSpPr>
        <p:spPr>
          <a:xfrm>
            <a:off x="10716768" y="4645152"/>
            <a:ext cx="859536" cy="256032"/>
          </a:xfrm>
          <a:prstGeom prst="rect">
            <a:avLst/>
          </a:prstGeom>
          <a:solidFill>
            <a:srgbClr val="F5F6F9"/>
          </a:solidFill>
          <a:ln/>
        </p:spPr>
      </p:sp>
      <p:sp>
        <p:nvSpPr>
          <p:cNvPr id="86" name="Shape 84"/>
          <p:cNvSpPr/>
          <p:nvPr/>
        </p:nvSpPr>
        <p:spPr>
          <a:xfrm>
            <a:off x="8046720" y="4645152"/>
            <a:ext cx="3529584" cy="256032"/>
          </a:xfrm>
          <a:prstGeom prst="rect">
            <a:avLst/>
          </a:prstGeom>
          <a:solidFill>
            <a:srgbClr val="6E4CA0"/>
          </a:solidFill>
          <a:ln/>
        </p:spPr>
      </p:sp>
      <p:sp>
        <p:nvSpPr>
          <p:cNvPr id="87" name="Text 85"/>
          <p:cNvSpPr/>
          <p:nvPr/>
        </p:nvSpPr>
        <p:spPr>
          <a:xfrm>
            <a:off x="457200" y="5257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KEY MILESTONES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914400" y="5623560"/>
            <a:ext cx="502920" cy="502920"/>
          </a:xfrm>
          <a:prstGeom prst="ellipse">
            <a:avLst/>
          </a:prstGeom>
          <a:solidFill>
            <a:srgbClr val="D99B25"/>
          </a:solidFill>
          <a:ln/>
        </p:spPr>
      </p:sp>
      <p:sp>
        <p:nvSpPr>
          <p:cNvPr id="89" name="Text 87"/>
          <p:cNvSpPr/>
          <p:nvPr/>
        </p:nvSpPr>
        <p:spPr>
          <a:xfrm>
            <a:off x="91440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W6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57200" y="6172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 complete · questionnaires ready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2551176" y="5623560"/>
            <a:ext cx="502920" cy="502920"/>
          </a:xfrm>
          <a:prstGeom prst="ellipse">
            <a:avLst/>
          </a:prstGeom>
          <a:solidFill>
            <a:srgbClr val="D99B25"/>
          </a:solidFill>
          <a:ln/>
        </p:spPr>
      </p:sp>
      <p:sp>
        <p:nvSpPr>
          <p:cNvPr id="92" name="Text 90"/>
          <p:cNvSpPr/>
          <p:nvPr/>
        </p:nvSpPr>
        <p:spPr>
          <a:xfrm>
            <a:off x="2551176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M1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2093976" y="6172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D365 connector configured · discovery spike done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187952" y="5623560"/>
            <a:ext cx="502920" cy="502920"/>
          </a:xfrm>
          <a:prstGeom prst="ellipse">
            <a:avLst/>
          </a:prstGeom>
          <a:solidFill>
            <a:srgbClr val="D99B25"/>
          </a:solidFill>
          <a:ln/>
        </p:spPr>
      </p:sp>
      <p:sp>
        <p:nvSpPr>
          <p:cNvPr id="95" name="Text 93"/>
          <p:cNvSpPr/>
          <p:nvPr/>
        </p:nvSpPr>
        <p:spPr>
          <a:xfrm>
            <a:off x="4187952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M2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730752" y="6172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FastTrack patterns ported · Bronze live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5824728" y="5623560"/>
            <a:ext cx="502920" cy="502920"/>
          </a:xfrm>
          <a:prstGeom prst="ellipse">
            <a:avLst/>
          </a:prstGeom>
          <a:solidFill>
            <a:srgbClr val="D99B25"/>
          </a:solidFill>
          <a:ln/>
        </p:spPr>
      </p:sp>
      <p:sp>
        <p:nvSpPr>
          <p:cNvPr id="98" name="Text 96"/>
          <p:cNvSpPr/>
          <p:nvPr/>
        </p:nvSpPr>
        <p:spPr>
          <a:xfrm>
            <a:off x="5824728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M4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5367528" y="6172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 primed · Silver complete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7461504" y="5623560"/>
            <a:ext cx="502920" cy="502920"/>
          </a:xfrm>
          <a:prstGeom prst="ellipse">
            <a:avLst/>
          </a:prstGeom>
          <a:solidFill>
            <a:srgbClr val="D99B25"/>
          </a:solidFill>
          <a:ln/>
        </p:spPr>
      </p:sp>
      <p:sp>
        <p:nvSpPr>
          <p:cNvPr id="101" name="Text 99"/>
          <p:cNvSpPr/>
          <p:nvPr/>
        </p:nvSpPr>
        <p:spPr>
          <a:xfrm>
            <a:off x="7461504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M5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7004304" y="6172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Dim &amp; Fact tables loaded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098280" y="5623560"/>
            <a:ext cx="502920" cy="502920"/>
          </a:xfrm>
          <a:prstGeom prst="ellipse">
            <a:avLst/>
          </a:prstGeom>
          <a:solidFill>
            <a:srgbClr val="D99B25"/>
          </a:solidFill>
          <a:ln/>
        </p:spPr>
      </p:sp>
      <p:sp>
        <p:nvSpPr>
          <p:cNvPr id="104" name="Text 102"/>
          <p:cNvSpPr/>
          <p:nvPr/>
        </p:nvSpPr>
        <p:spPr>
          <a:xfrm>
            <a:off x="9098280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M7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8641080" y="6172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 of insights implemented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10735056" y="5623560"/>
            <a:ext cx="502920" cy="502920"/>
          </a:xfrm>
          <a:prstGeom prst="ellipse">
            <a:avLst/>
          </a:prstGeom>
          <a:solidFill>
            <a:srgbClr val="D99B25"/>
          </a:solidFill>
          <a:ln/>
        </p:spPr>
      </p:sp>
      <p:sp>
        <p:nvSpPr>
          <p:cNvPr id="107" name="Text 105"/>
          <p:cNvSpPr/>
          <p:nvPr/>
        </p:nvSpPr>
        <p:spPr>
          <a:xfrm>
            <a:off x="10735056" y="5623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M9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10277856" y="6172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UAT complete · sign-off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· RAMP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headcount — full program (Phase 1 + Phases 2–5)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71323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965960"/>
            <a:ext cx="4069080" cy="96012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W1–W6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5528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RAMP-UP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955280" y="25328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1: Insight review. 32–37 reviewers peak. AI duplicate detection + summarisation.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18120" y="3063240"/>
            <a:ext cx="4069080" cy="96012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M1–M2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55280" y="33832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BUILD-UP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55280" y="36301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team onboards. D365 connector + FastTrack Silver framework. AI agent priming begins.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818120" y="4160520"/>
            <a:ext cx="4069080" cy="96012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M3–M6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44805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PEAK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955280" y="4727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5 peak: 27–29 FTEs. AI-assisted assembly-line insight implementation at scale.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818120" y="5257800"/>
            <a:ext cx="4069080" cy="960120"/>
          </a:xfrm>
          <a:prstGeom prst="rect">
            <a:avLst/>
          </a:prstGeom>
          <a:solidFill>
            <a:srgbClr val="F5F6F9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55280" y="5349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M7–M9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955280" y="5577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RAMP-DOWN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55280" y="58247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UAT support and defect resolution. Progressive team release.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B92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· RISKS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program risks and mitigations (v3)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097280" cy="45720"/>
          </a:xfrm>
          <a:prstGeom prst="rect">
            <a:avLst/>
          </a:prstGeom>
          <a:solidFill>
            <a:srgbClr val="2B92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74520"/>
            <a:ext cx="5532120" cy="1325880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011680"/>
            <a:ext cx="822960" cy="274320"/>
          </a:xfrm>
          <a:prstGeom prst="rect">
            <a:avLst/>
          </a:prstGeom>
          <a:solidFill>
            <a:srgbClr val="C0555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Questionnaire quality below expectation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Impact: AI leverage collapses  ·  Phase 5 effort +30–50%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Sample 100 questionnaires in Week 1; build rework buffer; escalate before Phase 5 scaling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532120" cy="1325880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44200" y="2011680"/>
            <a:ext cx="822960" cy="274320"/>
          </a:xfrm>
          <a:prstGeom prst="rect">
            <a:avLst/>
          </a:prstGeom>
          <a:solidFill>
            <a:srgbClr val="C05555"/>
          </a:solidFill>
          <a:ln/>
        </p:spPr>
      </p:sp>
      <p:sp>
        <p:nvSpPr>
          <p:cNvPr id="13" name="Text 11"/>
          <p:cNvSpPr/>
          <p:nvPr/>
        </p:nvSpPr>
        <p:spPr>
          <a:xfrm>
            <a:off x="1074420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agent priming inadequate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377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Impact: Phase 5 throughput below target  ·  extra rework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2697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Dedicate seniors to priming Months 3–4; pilot on 200–500 insights before scaling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5532120" cy="1325880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3474720"/>
            <a:ext cx="822960" cy="274320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474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Client-specific F&amp;O customisations outside FastTrack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Impact: Phase 2 Silver effort +20–40% for affected domains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Engage functional consultants early; validate FastTrack fit in 2-week discovery spike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532120" cy="1325880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44200" y="3474720"/>
            <a:ext cx="822960" cy="274320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25" name="Text 23"/>
          <p:cNvSpPr/>
          <p:nvPr/>
        </p:nvSpPr>
        <p:spPr>
          <a:xfrm>
            <a:off x="1074420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474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Onboarding drag from scaling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840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Impact: 15–25% productivity loss per onboarding cohort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4160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Stagger onboarding in 3 waves; onboarding packs, standards, and environment ready in advance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800600"/>
            <a:ext cx="5532120" cy="1325880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4937760"/>
            <a:ext cx="822960" cy="274320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937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937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AI-generated code contains subtle errors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303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Impact: UAT rework rate higher than 10% assumed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623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Preserve senior engineer review; mandatory validation against expected output before UAT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72200" y="4800600"/>
            <a:ext cx="5532120" cy="1325880"/>
          </a:xfrm>
          <a:prstGeom prst="rect">
            <a:avLst/>
          </a:prstGeom>
          <a:solidFill>
            <a:srgbClr val="FAFBFC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44200" y="4937760"/>
            <a:ext cx="822960" cy="274320"/>
          </a:xfrm>
          <a:prstGeom prst="rect">
            <a:avLst/>
          </a:prstGeom>
          <a:solidFill>
            <a:srgbClr val="D99B25"/>
          </a:solidFill>
          <a:ln/>
        </p:spPr>
      </p:sp>
      <p:sp>
        <p:nvSpPr>
          <p:cNvPr id="37" name="Text 35"/>
          <p:cNvSpPr/>
          <p:nvPr/>
        </p:nvSpPr>
        <p:spPr>
          <a:xfrm>
            <a:off x="10744200" y="49377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55080" y="4937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Business user availability for UAT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5303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Impact: UAT extends beyond Month 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5623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95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Secure named UAT participants with blocked calendar time before project start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0"/>
            <a:ext cx="731520" cy="6858000"/>
          </a:xfrm>
          <a:prstGeom prst="rect">
            <a:avLst/>
          </a:prstGeom>
          <a:solidFill>
            <a:srgbClr val="122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FB0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· RECOMMENDATION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 line &amp;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097280" cy="45720"/>
          </a:xfrm>
          <a:prstGeom prst="rect">
            <a:avLst/>
          </a:prstGeom>
          <a:solidFill>
            <a:srgbClr val="5FB0B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8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9-month timeline is feasible with a team averaging 22 FTEs and peaking at 26–29 FTEs on Azure Databricks, using the Lakeflow Connect D365 connector, FastTrack patterns, and AI-assisted development. Effort drops ~33–38% vs the v2 baseline. Phase 1 questionnaire quality and AI agent priming quality are the two variables most likely to determine whether the savings materialise.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2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CRITICAL SUCCESS FACTORS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3520440" cy="1417320"/>
          </a:xfrm>
          <a:prstGeom prst="rect">
            <a:avLst/>
          </a:prstGeom>
          <a:solidFill>
            <a:srgbClr val="12203F"/>
          </a:solidFill>
          <a:ln w="6350">
            <a:solidFill>
              <a:srgbClr val="2B92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 questionnaire quality in Week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70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1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Sample 100 questionnaires. If &gt;30% need rework, revert to baseline staffing.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60520" y="3337560"/>
            <a:ext cx="3520440" cy="1417320"/>
          </a:xfrm>
          <a:prstGeom prst="rect">
            <a:avLst/>
          </a:prstGeom>
          <a:solidFill>
            <a:srgbClr val="12203F"/>
          </a:solidFill>
          <a:ln w="6350">
            <a:solidFill>
              <a:srgbClr val="2B92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4340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Prime the AI agent thoroughly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43400" y="4270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1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F&amp;O model, dim model, OBT schemas, questionnaires. Pilot on 200–500 insights first.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63840" y="3337560"/>
            <a:ext cx="3520440" cy="1417320"/>
          </a:xfrm>
          <a:prstGeom prst="rect">
            <a:avLst/>
          </a:prstGeom>
          <a:solidFill>
            <a:srgbClr val="12203F"/>
          </a:solidFill>
          <a:ln w="6350">
            <a:solidFill>
              <a:srgbClr val="2B92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3474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4672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Configure D365 connector on day one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270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1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Domain-oriented pipeline design (250 tables/pipeline) must be right the first time.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3520440" cy="1417320"/>
          </a:xfrm>
          <a:prstGeom prst="rect">
            <a:avLst/>
          </a:prstGeom>
          <a:solidFill>
            <a:srgbClr val="12203F"/>
          </a:solidFill>
          <a:ln w="6350">
            <a:solidFill>
              <a:srgbClr val="2B92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74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 FastTrack patterns early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870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1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Silver framework port must complete Month 2 before per-entity implementation ramps.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60520" y="4937760"/>
            <a:ext cx="3520440" cy="1417320"/>
          </a:xfrm>
          <a:prstGeom prst="rect">
            <a:avLst/>
          </a:prstGeom>
          <a:solidFill>
            <a:srgbClr val="12203F"/>
          </a:solidFill>
          <a:ln w="6350">
            <a:solidFill>
              <a:srgbClr val="2B92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5074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343400" y="5486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Preserve senior seats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5870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1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AI leverage does not scale down the sign-off responsibility.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63840" y="4937760"/>
            <a:ext cx="3520440" cy="1417320"/>
          </a:xfrm>
          <a:prstGeom prst="rect">
            <a:avLst/>
          </a:prstGeom>
          <a:solidFill>
            <a:srgbClr val="12203F"/>
          </a:solidFill>
          <a:ln w="6350">
            <a:solidFill>
              <a:srgbClr val="2B92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5074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FB0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046720" y="5486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 velocity weekly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5870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C1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Insights per engineer per day. Adjust staffing by Month 5 if &lt;5/day.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829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D365 F&amp;O Analytics Migration  ·  Resource Estimate v3.0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29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D365 F&amp;O Analytics Migration - Executive Deck v3.0</dc:title>
  <dc:subject>PptxGenJS Presentation</dc:subject>
  <dc:creator>PptxGenJS</dc:creator>
  <cp:lastModifiedBy>PptxGenJS</cp:lastModifiedBy>
  <cp:revision>1</cp:revision>
  <dcterms:created xsi:type="dcterms:W3CDTF">2026-07-12T06:03:04Z</dcterms:created>
  <dcterms:modified xsi:type="dcterms:W3CDTF">2026-07-12T06:03:04Z</dcterms:modified>
</cp:coreProperties>
</file>